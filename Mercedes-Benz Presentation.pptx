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2" r:id="rId7"/>
    <p:sldId id="263" r:id="rId8"/>
    <p:sldId id="264" r:id="rId9"/>
    <p:sldId id="265" r:id="rId10"/>
    <p:sldId id="266" r:id="rId11"/>
    <p:sldId id="268" r:id="rId12"/>
    <p:sldId id="269" r:id="rId13"/>
    <p:sldId id="267" r:id="rId14"/>
  </p:sldIdLst>
  <p:sldSz cx="9144000" cy="5143500" type="screen16x9"/>
  <p:notesSz cx="5143500" cy="9144000"/>
  <p:embeddedFontLst>
    <p:embeddedFont>
      <p:font typeface="Calibri" panose="020F0502020204030204" pitchFamily="34" charset="0"/>
      <p:regular r:id="rId16"/>
      <p:bold r:id="rId17"/>
      <p:italic r:id="rId18"/>
      <p:boldItalic r:id="rId19"/>
    </p:embeddedFont>
    <p:embeddedFont>
      <p:font typeface="Roboto" panose="020B0604020202020204" charset="0"/>
      <p:regular r:id="rId20"/>
    </p:embeddedFont>
    <p:embeddedFont>
      <p:font typeface="Roboto Medium" panose="020B0604020202020204" charset="0"/>
      <p:regular r:id="rId2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19"/>
    <a:srgbClr val="000017"/>
    <a:srgbClr val="1E2E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8" d="100"/>
          <a:sy n="118" d="100"/>
        </p:scale>
        <p:origin x="442"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42457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18">
              <a:alpha val="95000"/>
            </a:srgbClr>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4-6.svg"/><Relationship Id="rId3" Type="http://schemas.openxmlformats.org/officeDocument/2006/relationships/image" Target="../media/image5.png"/><Relationship Id="rId7" Type="http://schemas.openxmlformats.org/officeDocument/2006/relationships/image" Target="../media/image-4-6.svg"/><Relationship Id="rId12" Type="http://schemas.openxmlformats.org/officeDocument/2006/relationships/image" Target="../media/image-4-6.sv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4-2.svg"/><Relationship Id="rId10" Type="http://schemas.openxmlformats.org/officeDocument/2006/relationships/image" Target="../media/image-4-6.svg"/><Relationship Id="rId4" Type="http://schemas.openxmlformats.org/officeDocument/2006/relationships/image" Target="../media/image-4-2.sv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8-6.svg"/><Relationship Id="rId3" Type="http://schemas.openxmlformats.org/officeDocument/2006/relationships/image" Target="../media/image9.png"/><Relationship Id="rId7"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8-4.svg"/><Relationship Id="rId5" Type="http://schemas.openxmlformats.org/officeDocument/2006/relationships/image" Target="../media/image10.png"/><Relationship Id="rId4" Type="http://schemas.openxmlformats.org/officeDocument/2006/relationships/image" Target="../media/image-8-2.svg"/></Relationships>
</file>

<file path=ppt/slides/_rels/slide8.xml.rels><?xml version="1.0" encoding="UTF-8" standalone="yes"?>
<Relationships xmlns="http://schemas.openxmlformats.org/package/2006/relationships"><Relationship Id="rId3" Type="http://schemas.openxmlformats.org/officeDocument/2006/relationships/image" Target="../media/image12.JPG"/><Relationship Id="rId7" Type="http://schemas.openxmlformats.org/officeDocument/2006/relationships/image" Target="../media/image16.JP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5.JPG"/><Relationship Id="rId5" Type="http://schemas.openxmlformats.org/officeDocument/2006/relationships/image" Target="../media/image14.JPG"/><Relationship Id="rId4" Type="http://schemas.openxmlformats.org/officeDocument/2006/relationships/image" Target="../media/image13.JPG"/></Relationships>
</file>

<file path=ppt/slides/_rels/slide9.xml.rels><?xml version="1.0" encoding="UTF-8" standalone="yes"?>
<Relationships xmlns="http://schemas.openxmlformats.org/package/2006/relationships"><Relationship Id="rId3" Type="http://schemas.openxmlformats.org/officeDocument/2006/relationships/image" Target="../media/image17.JPG"/><Relationship Id="rId7" Type="http://schemas.openxmlformats.org/officeDocument/2006/relationships/image" Target="../media/image21.JP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0.JPG"/><Relationship Id="rId5" Type="http://schemas.openxmlformats.org/officeDocument/2006/relationships/image" Target="../media/image19.JPG"/><Relationship Id="rId4" Type="http://schemas.openxmlformats.org/officeDocument/2006/relationships/image" Target="../media/image18.JP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11-3.sv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1-3.svg"/><Relationship Id="rId5" Type="http://schemas.openxmlformats.org/officeDocument/2006/relationships/image" Target="../media/image-11-3.svg"/><Relationship Id="rId4" Type="http://schemas.openxmlformats.org/officeDocument/2006/relationships/image" Target="../media/image23.png"/><Relationship Id="rId9" Type="http://schemas.openxmlformats.org/officeDocument/2006/relationships/image" Target="../media/image-11-3.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11-3.sv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3925119" y="1530176"/>
            <a:ext cx="4722763" cy="775097"/>
          </a:xfrm>
          <a:prstGeom prst="rect">
            <a:avLst/>
          </a:prstGeom>
          <a:noFill/>
          <a:ln/>
        </p:spPr>
        <p:txBody>
          <a:bodyPr wrap="square" lIns="0" tIns="0" rIns="0" bIns="0" rtlCol="0" anchor="t">
            <a:normAutofit/>
          </a:bodyPr>
          <a:lstStyle/>
          <a:p>
            <a:pPr marL="0" indent="0" algn="l">
              <a:lnSpc>
                <a:spcPct val="104000"/>
              </a:lnSpc>
              <a:buNone/>
            </a:pPr>
            <a:r>
              <a:rPr lang="en-US" sz="2400" dirty="0">
                <a:solidFill>
                  <a:srgbClr val="FFFFFF"/>
                </a:solidFill>
                <a:latin typeface="Roboto Medium" pitchFamily="34" charset="0"/>
                <a:ea typeface="Roboto Medium" pitchFamily="34" charset="-122"/>
                <a:cs typeface="Roboto Medium" pitchFamily="34" charset="-120"/>
              </a:rPr>
              <a:t>Mercedes-Benz Business Analytics</a:t>
            </a:r>
            <a:endParaRPr lang="en-US" sz="2400" dirty="0"/>
          </a:p>
        </p:txBody>
      </p:sp>
      <p:sp>
        <p:nvSpPr>
          <p:cNvPr id="4" name="Text 1"/>
          <p:cNvSpPr/>
          <p:nvPr/>
        </p:nvSpPr>
        <p:spPr>
          <a:xfrm>
            <a:off x="3925119" y="2491308"/>
            <a:ext cx="4722763" cy="793849"/>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CFD0D8"/>
                </a:solidFill>
                <a:latin typeface="Roboto" pitchFamily="34" charset="0"/>
                <a:ea typeface="Roboto" pitchFamily="34" charset="-122"/>
                <a:cs typeface="Roboto" pitchFamily="34" charset="-120"/>
              </a:rPr>
              <a:t>Cars run on fuel — but businesses run on data. This project delivers a comprehensive, end-to-end analytics pipeline to decode sales performance, customer behavior, and market dynamics across Mercedes-Benz's global operations, transforming raw data into strategic business intelligence.</a:t>
            </a:r>
            <a:endParaRPr lang="en-US" sz="950" dirty="0"/>
          </a:p>
        </p:txBody>
      </p:sp>
      <p:sp>
        <p:nvSpPr>
          <p:cNvPr id="5" name="Shape 2"/>
          <p:cNvSpPr/>
          <p:nvPr/>
        </p:nvSpPr>
        <p:spPr>
          <a:xfrm>
            <a:off x="3925119" y="3424684"/>
            <a:ext cx="1291754" cy="188565"/>
          </a:xfrm>
          <a:prstGeom prst="roundRect">
            <a:avLst>
              <a:gd name="adj" fmla="val 22104"/>
            </a:avLst>
          </a:prstGeom>
          <a:solidFill>
            <a:srgbClr val="0F163E"/>
          </a:solidFill>
          <a:ln/>
        </p:spPr>
      </p:sp>
      <p:sp>
        <p:nvSpPr>
          <p:cNvPr id="6" name="Text 3"/>
          <p:cNvSpPr/>
          <p:nvPr/>
        </p:nvSpPr>
        <p:spPr>
          <a:xfrm>
            <a:off x="3999533" y="3461891"/>
            <a:ext cx="1600126" cy="114151"/>
          </a:xfrm>
          <a:prstGeom prst="rect">
            <a:avLst/>
          </a:prstGeom>
          <a:noFill/>
          <a:ln/>
        </p:spPr>
        <p:txBody>
          <a:bodyPr wrap="none" lIns="0" tIns="0" rIns="0" bIns="0" rtlCol="0" anchor="t"/>
          <a:lstStyle/>
          <a:p>
            <a:pPr marL="0" indent="0" algn="l">
              <a:lnSpc>
                <a:spcPct val="96000"/>
              </a:lnSpc>
              <a:buNone/>
            </a:pPr>
            <a:r>
              <a:rPr lang="en-US" sz="750" dirty="0">
                <a:solidFill>
                  <a:srgbClr val="CFD0D8"/>
                </a:solidFill>
                <a:latin typeface="Roboto" pitchFamily="34" charset="0"/>
                <a:ea typeface="Roboto" pitchFamily="34" charset="-122"/>
                <a:cs typeface="Roboto" pitchFamily="34" charset="-120"/>
              </a:rPr>
              <a:t>BUSINESS INTELLIGENCE</a:t>
            </a:r>
            <a:endParaRPr lang="en-US" sz="750" dirty="0"/>
          </a:p>
        </p:txBody>
      </p:sp>
      <p:sp>
        <p:nvSpPr>
          <p:cNvPr id="7" name="Shape 4"/>
          <p:cNvSpPr/>
          <p:nvPr/>
        </p:nvSpPr>
        <p:spPr>
          <a:xfrm>
            <a:off x="5278859" y="3424684"/>
            <a:ext cx="1299939" cy="188565"/>
          </a:xfrm>
          <a:prstGeom prst="roundRect">
            <a:avLst>
              <a:gd name="adj" fmla="val 22104"/>
            </a:avLst>
          </a:prstGeom>
          <a:noFill/>
          <a:ln w="4763">
            <a:solidFill>
              <a:srgbClr val="5A6ED8"/>
            </a:solidFill>
            <a:prstDash val="solid"/>
          </a:ln>
        </p:spPr>
      </p:sp>
      <p:sp>
        <p:nvSpPr>
          <p:cNvPr id="8" name="Text 5"/>
          <p:cNvSpPr/>
          <p:nvPr/>
        </p:nvSpPr>
        <p:spPr>
          <a:xfrm>
            <a:off x="5353273" y="3461891"/>
            <a:ext cx="1608311" cy="114151"/>
          </a:xfrm>
          <a:prstGeom prst="rect">
            <a:avLst/>
          </a:prstGeom>
          <a:noFill/>
          <a:ln/>
        </p:spPr>
        <p:txBody>
          <a:bodyPr wrap="none" lIns="0" tIns="0" rIns="0" bIns="0" rtlCol="0" anchor="t"/>
          <a:lstStyle/>
          <a:p>
            <a:pPr marL="0" indent="0" algn="l">
              <a:lnSpc>
                <a:spcPct val="96000"/>
              </a:lnSpc>
              <a:buNone/>
            </a:pPr>
            <a:r>
              <a:rPr lang="en-US" sz="750" dirty="0">
                <a:solidFill>
                  <a:srgbClr val="5A6ED8"/>
                </a:solidFill>
                <a:latin typeface="Roboto" pitchFamily="34" charset="0"/>
                <a:ea typeface="Roboto" pitchFamily="34" charset="-122"/>
                <a:cs typeface="Roboto" pitchFamily="34" charset="-120"/>
              </a:rPr>
              <a:t>AUTOMOTIVE ANALYTICS</a:t>
            </a:r>
            <a:endParaRPr lang="en-US" sz="750" dirty="0"/>
          </a:p>
        </p:txBody>
      </p:sp>
      <p:sp>
        <p:nvSpPr>
          <p:cNvPr id="9" name="Shape 6"/>
          <p:cNvSpPr/>
          <p:nvPr/>
        </p:nvSpPr>
        <p:spPr>
          <a:xfrm>
            <a:off x="6640785" y="3424684"/>
            <a:ext cx="1123652" cy="188565"/>
          </a:xfrm>
          <a:prstGeom prst="roundRect">
            <a:avLst>
              <a:gd name="adj" fmla="val 22104"/>
            </a:avLst>
          </a:prstGeom>
          <a:noFill/>
          <a:ln w="4763">
            <a:solidFill>
              <a:srgbClr val="5A6ED8"/>
            </a:solidFill>
            <a:prstDash val="solid"/>
          </a:ln>
        </p:spPr>
      </p:sp>
      <p:sp>
        <p:nvSpPr>
          <p:cNvPr id="10" name="Text 7"/>
          <p:cNvSpPr/>
          <p:nvPr/>
        </p:nvSpPr>
        <p:spPr>
          <a:xfrm>
            <a:off x="6708714" y="3461891"/>
            <a:ext cx="1432024" cy="151358"/>
          </a:xfrm>
          <a:prstGeom prst="rect">
            <a:avLst/>
          </a:prstGeom>
          <a:noFill/>
          <a:ln/>
        </p:spPr>
        <p:txBody>
          <a:bodyPr wrap="none" lIns="0" tIns="0" rIns="0" bIns="0" rtlCol="0" anchor="t"/>
          <a:lstStyle/>
          <a:p>
            <a:pPr>
              <a:lnSpc>
                <a:spcPct val="96000"/>
              </a:lnSpc>
            </a:pPr>
            <a:r>
              <a:rPr lang="en-IN" sz="750" dirty="0">
                <a:solidFill>
                  <a:srgbClr val="5A6ED8"/>
                </a:solidFill>
                <a:latin typeface="Roboto" pitchFamily="34" charset="0"/>
                <a:ea typeface="Roboto" pitchFamily="34" charset="-122"/>
                <a:cs typeface="Roboto" pitchFamily="34" charset="-120"/>
              </a:rPr>
              <a:t>GROWTH </a:t>
            </a:r>
            <a:r>
              <a:rPr lang="en-IN" sz="750" dirty="0" smtClean="0">
                <a:solidFill>
                  <a:srgbClr val="5A6ED8"/>
                </a:solidFill>
                <a:latin typeface="Roboto" pitchFamily="34" charset="0"/>
                <a:ea typeface="Roboto" pitchFamily="34" charset="-122"/>
                <a:cs typeface="Roboto" pitchFamily="34" charset="-120"/>
              </a:rPr>
              <a:t>INSIGHTS</a:t>
            </a:r>
            <a:endParaRPr lang="en-US" sz="750" dirty="0">
              <a:solidFill>
                <a:srgbClr val="5A6ED8"/>
              </a:solidFill>
              <a:latin typeface="Roboto" pitchFamily="34" charset="0"/>
              <a:ea typeface="Roboto" pitchFamily="34" charset="-122"/>
              <a:cs typeface="Roboto" pitchFamily="34" charset="-120"/>
            </a:endParaRP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4840" y="1537205"/>
            <a:ext cx="2076044" cy="2076044"/>
          </a:xfrm>
          <a:prstGeom prst="rect">
            <a:avLst/>
          </a:prstGeom>
        </p:spPr>
      </p:pic>
      <p:sp>
        <p:nvSpPr>
          <p:cNvPr id="13" name="Rounded Rectangle 12"/>
          <p:cNvSpPr/>
          <p:nvPr/>
        </p:nvSpPr>
        <p:spPr>
          <a:xfrm>
            <a:off x="8052816" y="4870704"/>
            <a:ext cx="1030224" cy="213360"/>
          </a:xfrm>
          <a:prstGeom prst="roundRect">
            <a:avLst/>
          </a:prstGeom>
          <a:solidFill>
            <a:srgbClr val="000019"/>
          </a:solidFill>
          <a:ln>
            <a:solidFill>
              <a:srgbClr val="0000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8" y="467225"/>
            <a:ext cx="8151763" cy="193849"/>
          </a:xfrm>
          <a:prstGeom prst="rect">
            <a:avLst/>
          </a:prstGeom>
          <a:noFill/>
          <a:ln/>
        </p:spPr>
        <p:txBody>
          <a:bodyPr wrap="none" lIns="0" tIns="0" rIns="0" bIns="0" rtlCol="0" anchor="t"/>
          <a:lstStyle/>
          <a:p>
            <a:pPr marL="0" indent="0" algn="l">
              <a:lnSpc>
                <a:spcPct val="104000"/>
              </a:lnSpc>
              <a:buNone/>
            </a:pPr>
            <a:r>
              <a:rPr lang="en-US" sz="1400" dirty="0">
                <a:solidFill>
                  <a:srgbClr val="FFFFFF"/>
                </a:solidFill>
                <a:latin typeface="Roboto Medium" pitchFamily="34" charset="0"/>
                <a:ea typeface="Roboto Medium" pitchFamily="34" charset="-122"/>
                <a:cs typeface="Roboto Medium" pitchFamily="34" charset="-120"/>
              </a:rPr>
              <a:t>Project Overview</a:t>
            </a:r>
            <a:endParaRPr lang="en-US" sz="1400" dirty="0"/>
          </a:p>
        </p:txBody>
      </p:sp>
      <p:sp>
        <p:nvSpPr>
          <p:cNvPr id="3" name="Text 1"/>
          <p:cNvSpPr/>
          <p:nvPr/>
        </p:nvSpPr>
        <p:spPr>
          <a:xfrm>
            <a:off x="496117" y="713560"/>
            <a:ext cx="8151763" cy="387548"/>
          </a:xfrm>
          <a:prstGeom prst="rect">
            <a:avLst/>
          </a:prstGeom>
          <a:noFill/>
          <a:ln/>
        </p:spPr>
        <p:txBody>
          <a:bodyPr wrap="none" lIns="0" tIns="0" rIns="0" bIns="0" rtlCol="0" anchor="t"/>
          <a:lstStyle/>
          <a:p>
            <a:pPr marL="0" indent="0" algn="l">
              <a:lnSpc>
                <a:spcPct val="104000"/>
              </a:lnSpc>
              <a:buNone/>
            </a:pPr>
            <a:r>
              <a:rPr lang="en-US" sz="2400" dirty="0">
                <a:solidFill>
                  <a:srgbClr val="FFFFFF"/>
                </a:solidFill>
                <a:latin typeface="Roboto Medium" pitchFamily="34" charset="0"/>
                <a:ea typeface="Roboto Medium" pitchFamily="34" charset="-122"/>
                <a:cs typeface="Roboto Medium" pitchFamily="34" charset="-120"/>
              </a:rPr>
              <a:t>From Raw Data to Strategic Decisions</a:t>
            </a:r>
            <a:endParaRPr lang="en-US" sz="2400" dirty="0"/>
          </a:p>
        </p:txBody>
      </p:sp>
      <p:sp>
        <p:nvSpPr>
          <p:cNvPr id="4" name="Shape 2"/>
          <p:cNvSpPr/>
          <p:nvPr/>
        </p:nvSpPr>
        <p:spPr>
          <a:xfrm>
            <a:off x="406822" y="1627727"/>
            <a:ext cx="4525863" cy="2047949"/>
          </a:xfrm>
          <a:prstGeom prst="roundRect">
            <a:avLst>
              <a:gd name="adj" fmla="val 4361"/>
            </a:avLst>
          </a:prstGeom>
          <a:solidFill>
            <a:srgbClr val="1E2E80">
              <a:alpha val="94902"/>
            </a:srgbClr>
          </a:solidFill>
          <a:ln/>
        </p:spPr>
      </p:sp>
      <p:sp>
        <p:nvSpPr>
          <p:cNvPr id="5" name="Text 3"/>
          <p:cNvSpPr/>
          <p:nvPr/>
        </p:nvSpPr>
        <p:spPr>
          <a:xfrm>
            <a:off x="530796" y="1848407"/>
            <a:ext cx="4277916" cy="193849"/>
          </a:xfrm>
          <a:prstGeom prst="rect">
            <a:avLst/>
          </a:prstGeom>
          <a:noFill/>
          <a:ln/>
        </p:spPr>
        <p:txBody>
          <a:bodyPr wrap="none" lIns="0" tIns="0" rIns="0" bIns="0" rtlCol="0" anchor="t"/>
          <a:lstStyle/>
          <a:p>
            <a:pPr marL="0" indent="0" algn="l">
              <a:lnSpc>
                <a:spcPct val="104000"/>
              </a:lnSpc>
              <a:buNone/>
            </a:pPr>
            <a:r>
              <a:rPr lang="en-US" sz="1200" dirty="0" smtClean="0">
                <a:solidFill>
                  <a:srgbClr val="FFFFFF"/>
                </a:solidFill>
                <a:latin typeface="Roboto Medium" pitchFamily="34" charset="0"/>
                <a:ea typeface="Roboto Medium" pitchFamily="34" charset="-122"/>
                <a:cs typeface="Roboto Medium" pitchFamily="34" charset="-120"/>
              </a:rPr>
              <a:t>Overview of my work</a:t>
            </a:r>
            <a:endParaRPr lang="en-US" sz="1200" dirty="0"/>
          </a:p>
        </p:txBody>
      </p:sp>
      <p:sp>
        <p:nvSpPr>
          <p:cNvPr id="6" name="Text 4"/>
          <p:cNvSpPr/>
          <p:nvPr/>
        </p:nvSpPr>
        <p:spPr>
          <a:xfrm>
            <a:off x="530796" y="2275586"/>
            <a:ext cx="4277916" cy="992312"/>
          </a:xfrm>
          <a:prstGeom prst="rect">
            <a:avLst/>
          </a:prstGeom>
          <a:noFill/>
          <a:ln/>
        </p:spPr>
        <p:txBody>
          <a:bodyPr wrap="square" lIns="0" tIns="0" rIns="0" bIns="0" rtlCol="0" anchor="t">
            <a:normAutofit/>
          </a:bodyPr>
          <a:lstStyle/>
          <a:p>
            <a:pPr marL="0" indent="0" algn="l">
              <a:lnSpc>
                <a:spcPct val="133000"/>
              </a:lnSpc>
              <a:buNone/>
            </a:pPr>
            <a:r>
              <a:rPr lang="en-US" sz="950" dirty="0" smtClean="0">
                <a:solidFill>
                  <a:schemeClr val="bg1">
                    <a:lumMod val="85000"/>
                  </a:schemeClr>
                </a:solidFill>
                <a:latin typeface="Roboto" pitchFamily="34" charset="0"/>
                <a:ea typeface="Roboto" pitchFamily="34" charset="-122"/>
                <a:cs typeface="Roboto" pitchFamily="34" charset="-120"/>
              </a:rPr>
              <a:t>Analyzed </a:t>
            </a:r>
            <a:r>
              <a:rPr lang="en-US" sz="950" dirty="0">
                <a:solidFill>
                  <a:schemeClr val="bg1">
                    <a:lumMod val="85000"/>
                  </a:schemeClr>
                </a:solidFill>
                <a:latin typeface="Roboto" pitchFamily="34" charset="0"/>
                <a:ea typeface="Roboto" pitchFamily="34" charset="-122"/>
                <a:cs typeface="Roboto" pitchFamily="34" charset="-120"/>
              </a:rPr>
              <a:t>Mercedes-Benz's global sales, product performance, and customer trends through a structured analytics pipeline. It evaluates key performance indicators — revenue, profitability, regional demand, and customer segmentation — to support strategic planning and operational efficiency.</a:t>
            </a:r>
            <a:endParaRPr lang="en-US" sz="950" dirty="0">
              <a:solidFill>
                <a:schemeClr val="bg1">
                  <a:lumMod val="85000"/>
                </a:schemeClr>
              </a:solidFill>
            </a:endParaRPr>
          </a:p>
        </p:txBody>
      </p:sp>
      <p:sp>
        <p:nvSpPr>
          <p:cNvPr id="7" name="Text 5"/>
          <p:cNvSpPr/>
          <p:nvPr/>
        </p:nvSpPr>
        <p:spPr>
          <a:xfrm>
            <a:off x="5196114" y="1835402"/>
            <a:ext cx="3501851" cy="193849"/>
          </a:xfrm>
          <a:prstGeom prst="rect">
            <a:avLst/>
          </a:prstGeom>
          <a:noFill/>
          <a:ln/>
        </p:spPr>
        <p:txBody>
          <a:bodyPr wrap="none" lIns="0" tIns="0" rIns="0" bIns="0" rtlCol="0" anchor="t"/>
          <a:lstStyle/>
          <a:p>
            <a:pPr marL="0" indent="0" algn="l">
              <a:lnSpc>
                <a:spcPct val="104000"/>
              </a:lnSpc>
              <a:buNone/>
            </a:pPr>
            <a:r>
              <a:rPr lang="en-US" sz="1200" dirty="0">
                <a:solidFill>
                  <a:srgbClr val="FFFFFF"/>
                </a:solidFill>
                <a:latin typeface="Roboto Medium" pitchFamily="34" charset="0"/>
                <a:ea typeface="Roboto Medium" pitchFamily="34" charset="-122"/>
                <a:cs typeface="Roboto Medium" pitchFamily="34" charset="-120"/>
              </a:rPr>
              <a:t>Core Objectives</a:t>
            </a:r>
            <a:endParaRPr lang="en-US" sz="1200" dirty="0"/>
          </a:p>
        </p:txBody>
      </p:sp>
      <p:sp>
        <p:nvSpPr>
          <p:cNvPr id="8" name="Text 6"/>
          <p:cNvSpPr/>
          <p:nvPr/>
        </p:nvSpPr>
        <p:spPr>
          <a:xfrm>
            <a:off x="5196114" y="2275586"/>
            <a:ext cx="3501851" cy="1562770"/>
          </a:xfrm>
          <a:prstGeom prst="rect">
            <a:avLst/>
          </a:prstGeom>
          <a:noFill/>
          <a:ln/>
        </p:spPr>
        <p:txBody>
          <a:bodyPr wrap="square" lIns="0" tIns="0" rIns="0" bIns="0" rtlCol="0" anchor="t">
            <a:normAutofit/>
          </a:bodyPr>
          <a:lstStyle/>
          <a:p>
            <a:pPr marL="193040" indent="-193040" algn="l">
              <a:lnSpc>
                <a:spcPct val="133000"/>
              </a:lnSpc>
              <a:buSzPct val="100000"/>
              <a:buChar char="•"/>
            </a:pPr>
            <a:r>
              <a:rPr lang="en-US" sz="950" dirty="0">
                <a:solidFill>
                  <a:srgbClr val="CFD0D8"/>
                </a:solidFill>
                <a:latin typeface="Roboto" pitchFamily="34" charset="0"/>
                <a:ea typeface="Roboto" pitchFamily="34" charset="-122"/>
                <a:cs typeface="Roboto" pitchFamily="34" charset="-120"/>
              </a:rPr>
              <a:t>Understand customer preferences and purchasing decisions globally</a:t>
            </a:r>
            <a:endParaRPr lang="en-US" sz="950" dirty="0"/>
          </a:p>
          <a:p>
            <a:pPr marL="193040" indent="-193040" algn="l">
              <a:lnSpc>
                <a:spcPct val="133000"/>
              </a:lnSpc>
              <a:buSzPct val="100000"/>
              <a:buChar char="•"/>
            </a:pPr>
            <a:r>
              <a:rPr lang="en-US" sz="950" dirty="0">
                <a:solidFill>
                  <a:srgbClr val="CFD0D8"/>
                </a:solidFill>
                <a:latin typeface="Roboto" pitchFamily="34" charset="0"/>
                <a:ea typeface="Roboto" pitchFamily="34" charset="-122"/>
                <a:cs typeface="Roboto" pitchFamily="34" charset="-120"/>
              </a:rPr>
              <a:t>Identify product trends and model-level performance</a:t>
            </a:r>
            <a:endParaRPr lang="en-US" sz="950" dirty="0"/>
          </a:p>
          <a:p>
            <a:pPr marL="193040" indent="-193040" algn="l">
              <a:lnSpc>
                <a:spcPct val="133000"/>
              </a:lnSpc>
              <a:buSzPct val="100000"/>
              <a:buChar char="•"/>
            </a:pPr>
            <a:r>
              <a:rPr lang="en-US" sz="950" dirty="0">
                <a:solidFill>
                  <a:srgbClr val="CFD0D8"/>
                </a:solidFill>
                <a:latin typeface="Roboto" pitchFamily="34" charset="0"/>
                <a:ea typeface="Roboto" pitchFamily="34" charset="-122"/>
                <a:cs typeface="Roboto" pitchFamily="34" charset="-120"/>
              </a:rPr>
              <a:t>Uncover profitability gaps across regions and segments</a:t>
            </a:r>
            <a:endParaRPr lang="en-US" sz="950" dirty="0"/>
          </a:p>
          <a:p>
            <a:pPr marL="193040" indent="-193040" algn="l">
              <a:lnSpc>
                <a:spcPct val="133000"/>
              </a:lnSpc>
              <a:buSzPct val="100000"/>
              <a:buChar char="•"/>
            </a:pPr>
            <a:r>
              <a:rPr lang="en-US" sz="950" dirty="0">
                <a:solidFill>
                  <a:srgbClr val="CFD0D8"/>
                </a:solidFill>
                <a:latin typeface="Roboto" pitchFamily="34" charset="0"/>
                <a:ea typeface="Roboto" pitchFamily="34" charset="-122"/>
                <a:cs typeface="Roboto" pitchFamily="34" charset="-120"/>
              </a:rPr>
              <a:t>Deliver interactive dashboards for executive decision-making</a:t>
            </a:r>
            <a:endParaRPr lang="en-US" sz="950" dirty="0"/>
          </a:p>
          <a:p>
            <a:pPr marL="193040" indent="-193040" algn="l">
              <a:lnSpc>
                <a:spcPct val="133000"/>
              </a:lnSpc>
              <a:buSzPct val="100000"/>
              <a:buChar char="•"/>
            </a:pPr>
            <a:r>
              <a:rPr lang="en-US" sz="950" dirty="0">
                <a:solidFill>
                  <a:srgbClr val="CFD0D8"/>
                </a:solidFill>
                <a:latin typeface="Roboto" pitchFamily="34" charset="0"/>
                <a:ea typeface="Roboto" pitchFamily="34" charset="-122"/>
                <a:cs typeface="Roboto" pitchFamily="34" charset="-120"/>
              </a:rPr>
              <a:t>Provide a financial overview and growth roadmap for 2026</a:t>
            </a:r>
            <a:endParaRPr lang="en-US" sz="950" dirty="0"/>
          </a:p>
        </p:txBody>
      </p:sp>
      <p:sp>
        <p:nvSpPr>
          <p:cNvPr id="9" name="Rounded Rectangle 8"/>
          <p:cNvSpPr/>
          <p:nvPr/>
        </p:nvSpPr>
        <p:spPr>
          <a:xfrm>
            <a:off x="8052816" y="4870704"/>
            <a:ext cx="1030224" cy="213360"/>
          </a:xfrm>
          <a:prstGeom prst="roundRect">
            <a:avLst/>
          </a:prstGeom>
          <a:solidFill>
            <a:srgbClr val="000019"/>
          </a:solidFill>
          <a:ln>
            <a:solidFill>
              <a:srgbClr val="0000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1274862"/>
            <a:ext cx="4722763" cy="193849"/>
          </a:xfrm>
          <a:prstGeom prst="rect">
            <a:avLst/>
          </a:prstGeom>
          <a:noFill/>
          <a:ln/>
        </p:spPr>
        <p:txBody>
          <a:bodyPr wrap="none" lIns="0" tIns="0" rIns="0" bIns="0" rtlCol="0" anchor="t"/>
          <a:lstStyle/>
          <a:p>
            <a:pPr marL="0" indent="0" algn="l">
              <a:lnSpc>
                <a:spcPct val="104000"/>
              </a:lnSpc>
              <a:buNone/>
            </a:pPr>
            <a:r>
              <a:rPr lang="en-US" sz="1200" dirty="0">
                <a:solidFill>
                  <a:srgbClr val="FFFFFF"/>
                </a:solidFill>
                <a:latin typeface="Roboto Medium" pitchFamily="34" charset="0"/>
                <a:ea typeface="Roboto Medium" pitchFamily="34" charset="-122"/>
                <a:cs typeface="Roboto Medium" pitchFamily="34" charset="-120"/>
              </a:rPr>
              <a:t>Business Background</a:t>
            </a:r>
            <a:endParaRPr lang="en-US" sz="1200" dirty="0"/>
          </a:p>
        </p:txBody>
      </p:sp>
      <p:sp>
        <p:nvSpPr>
          <p:cNvPr id="4" name="Text 1"/>
          <p:cNvSpPr/>
          <p:nvPr/>
        </p:nvSpPr>
        <p:spPr>
          <a:xfrm>
            <a:off x="496119" y="1518270"/>
            <a:ext cx="4722763" cy="775097"/>
          </a:xfrm>
          <a:prstGeom prst="rect">
            <a:avLst/>
          </a:prstGeom>
          <a:noFill/>
          <a:ln/>
        </p:spPr>
        <p:txBody>
          <a:bodyPr wrap="square" lIns="0" tIns="0" rIns="0" bIns="0" rtlCol="0" anchor="t">
            <a:normAutofit/>
          </a:bodyPr>
          <a:lstStyle/>
          <a:p>
            <a:pPr marL="0" indent="0" algn="l">
              <a:lnSpc>
                <a:spcPct val="104000"/>
              </a:lnSpc>
              <a:buNone/>
            </a:pPr>
            <a:r>
              <a:rPr lang="en-US" sz="2400" dirty="0">
                <a:solidFill>
                  <a:srgbClr val="FFFFFF"/>
                </a:solidFill>
                <a:latin typeface="Roboto Medium" pitchFamily="34" charset="0"/>
                <a:ea typeface="Roboto Medium" pitchFamily="34" charset="-122"/>
                <a:cs typeface="Roboto Medium" pitchFamily="34" charset="-120"/>
              </a:rPr>
              <a:t>Mercedes-Benz: A Global Luxury Leader</a:t>
            </a:r>
            <a:endParaRPr lang="en-US" sz="2400" dirty="0"/>
          </a:p>
        </p:txBody>
      </p:sp>
      <p:sp>
        <p:nvSpPr>
          <p:cNvPr id="5" name="Text 2"/>
          <p:cNvSpPr/>
          <p:nvPr/>
        </p:nvSpPr>
        <p:spPr>
          <a:xfrm>
            <a:off x="496119" y="2479402"/>
            <a:ext cx="4722763" cy="1389236"/>
          </a:xfrm>
          <a:prstGeom prst="rect">
            <a:avLst/>
          </a:prstGeom>
          <a:noFill/>
          <a:ln/>
        </p:spPr>
        <p:txBody>
          <a:bodyPr wrap="square" lIns="0" tIns="0" rIns="0" bIns="0" rtlCol="0" anchor="t">
            <a:normAutofit/>
          </a:bodyPr>
          <a:lstStyle/>
          <a:p>
            <a:pPr>
              <a:lnSpc>
                <a:spcPct val="133000"/>
              </a:lnSpc>
            </a:pPr>
            <a:r>
              <a:rPr lang="en-US" sz="950" dirty="0">
                <a:solidFill>
                  <a:srgbClr val="CFD0D8"/>
                </a:solidFill>
                <a:latin typeface="Roboto" pitchFamily="34" charset="0"/>
                <a:ea typeface="Roboto" pitchFamily="34" charset="-122"/>
                <a:cs typeface="Roboto" pitchFamily="34" charset="-120"/>
              </a:rPr>
              <a:t>Mercedes-Benz is one of the world's most recognized luxury automobile manufacturers, with a presence spanning dozens of countries and customer segments. This analysis leverages sales, product, customer, and regional data to evaluate performance across the entire business — from individual model profitability to country-level market demand. </a:t>
            </a:r>
            <a:r>
              <a:rPr lang="en-US" sz="950" dirty="0" smtClean="0">
                <a:solidFill>
                  <a:srgbClr val="CFD0D8"/>
                </a:solidFill>
                <a:latin typeface="Roboto" pitchFamily="34" charset="0"/>
                <a:ea typeface="Roboto" pitchFamily="34" charset="-122"/>
                <a:cs typeface="Roboto" pitchFamily="34" charset="-120"/>
              </a:rPr>
              <a:t>Insights </a:t>
            </a:r>
            <a:r>
              <a:rPr lang="en-US" sz="950" dirty="0">
                <a:solidFill>
                  <a:srgbClr val="CFD0D8"/>
                </a:solidFill>
                <a:latin typeface="Roboto" pitchFamily="34" charset="0"/>
                <a:ea typeface="Roboto" pitchFamily="34" charset="-122"/>
                <a:cs typeface="Roboto" pitchFamily="34" charset="-120"/>
              </a:rPr>
              <a:t>generated are designed to support </a:t>
            </a:r>
            <a:r>
              <a:rPr lang="en-US" sz="950" dirty="0" smtClean="0">
                <a:solidFill>
                  <a:srgbClr val="CFD0D8"/>
                </a:solidFill>
                <a:latin typeface="Roboto" pitchFamily="34" charset="0"/>
                <a:ea typeface="Roboto" pitchFamily="34" charset="-122"/>
                <a:cs typeface="Roboto" pitchFamily="34" charset="-120"/>
              </a:rPr>
              <a:t>stake-holder </a:t>
            </a:r>
            <a:r>
              <a:rPr lang="en-US" sz="950" dirty="0">
                <a:solidFill>
                  <a:srgbClr val="CFD0D8"/>
                </a:solidFill>
                <a:latin typeface="Roboto" pitchFamily="34" charset="0"/>
                <a:ea typeface="Roboto" pitchFamily="34" charset="-122"/>
                <a:cs typeface="Roboto" pitchFamily="34" charset="-120"/>
              </a:rPr>
              <a:t>decisions on inventory, manufacturing, marketing, and expansion strategy.</a:t>
            </a:r>
            <a:endParaRPr lang="en-US" sz="950" dirty="0"/>
          </a:p>
        </p:txBody>
      </p:sp>
      <p:sp>
        <p:nvSpPr>
          <p:cNvPr id="6" name="Rounded Rectangle 5"/>
          <p:cNvSpPr/>
          <p:nvPr/>
        </p:nvSpPr>
        <p:spPr>
          <a:xfrm>
            <a:off x="8052816" y="4870704"/>
            <a:ext cx="1030224" cy="213360"/>
          </a:xfrm>
          <a:prstGeom prst="roundRect">
            <a:avLst/>
          </a:prstGeom>
          <a:solidFill>
            <a:srgbClr val="000019"/>
          </a:solidFill>
          <a:ln>
            <a:solidFill>
              <a:srgbClr val="0000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527447"/>
            <a:ext cx="8151763" cy="193849"/>
          </a:xfrm>
          <a:prstGeom prst="rect">
            <a:avLst/>
          </a:prstGeom>
          <a:noFill/>
          <a:ln/>
        </p:spPr>
        <p:txBody>
          <a:bodyPr wrap="none" lIns="0" tIns="0" rIns="0" bIns="0" rtlCol="0" anchor="t"/>
          <a:lstStyle/>
          <a:p>
            <a:pPr marL="0" indent="0" algn="l">
              <a:lnSpc>
                <a:spcPct val="104000"/>
              </a:lnSpc>
              <a:buNone/>
            </a:pPr>
            <a:r>
              <a:rPr lang="en-US" sz="2400" dirty="0">
                <a:solidFill>
                  <a:srgbClr val="FFFFFF"/>
                </a:solidFill>
                <a:latin typeface="Roboto Medium" pitchFamily="34" charset="0"/>
                <a:ea typeface="Roboto Medium" pitchFamily="34" charset="-122"/>
                <a:cs typeface="Roboto Medium" pitchFamily="34" charset="-120"/>
              </a:rPr>
              <a:t>Problem Statement</a:t>
            </a:r>
            <a:endParaRPr lang="en-US" sz="2400" dirty="0"/>
          </a:p>
        </p:txBody>
      </p:sp>
      <p:sp>
        <p:nvSpPr>
          <p:cNvPr id="3" name="Text 1"/>
          <p:cNvSpPr/>
          <p:nvPr/>
        </p:nvSpPr>
        <p:spPr>
          <a:xfrm>
            <a:off x="496118" y="919684"/>
            <a:ext cx="8151763" cy="387548"/>
          </a:xfrm>
          <a:prstGeom prst="rect">
            <a:avLst/>
          </a:prstGeom>
          <a:noFill/>
          <a:ln/>
        </p:spPr>
        <p:txBody>
          <a:bodyPr wrap="none" lIns="0" tIns="0" rIns="0" bIns="0" rtlCol="0" anchor="t"/>
          <a:lstStyle/>
          <a:p>
            <a:pPr marL="0" indent="0" algn="l">
              <a:lnSpc>
                <a:spcPct val="104000"/>
              </a:lnSpc>
              <a:buNone/>
            </a:pPr>
            <a:r>
              <a:rPr lang="en-US" sz="1200" dirty="0">
                <a:solidFill>
                  <a:srgbClr val="FFFFFF"/>
                </a:solidFill>
                <a:latin typeface="Roboto Medium" pitchFamily="34" charset="0"/>
                <a:ea typeface="Roboto Medium" pitchFamily="34" charset="-122"/>
                <a:cs typeface="Roboto Medium" pitchFamily="34" charset="-120"/>
              </a:rPr>
              <a:t>Critical Business Challenges to Address</a:t>
            </a:r>
            <a:endParaRPr lang="en-US" sz="120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496119" y="1344439"/>
            <a:ext cx="4013895" cy="1140172"/>
          </a:xfrm>
          <a:prstGeom prst="rect">
            <a:avLst/>
          </a:prstGeom>
        </p:spPr>
      </p:pic>
      <p:sp>
        <p:nvSpPr>
          <p:cNvPr id="5" name="Text 2"/>
          <p:cNvSpPr/>
          <p:nvPr/>
        </p:nvSpPr>
        <p:spPr>
          <a:xfrm>
            <a:off x="691530" y="1482700"/>
            <a:ext cx="3680222" cy="193849"/>
          </a:xfrm>
          <a:prstGeom prst="rect">
            <a:avLst/>
          </a:prstGeom>
          <a:noFill/>
          <a:ln/>
        </p:spPr>
        <p:txBody>
          <a:bodyPr wrap="none" lIns="0" tIns="0" rIns="0" bIns="0" rtlCol="0" anchor="t"/>
          <a:lstStyle/>
          <a:p>
            <a:pPr marL="0" indent="0" algn="l">
              <a:lnSpc>
                <a:spcPct val="104000"/>
              </a:lnSpc>
              <a:buNone/>
            </a:pPr>
            <a:r>
              <a:rPr lang="en-US" sz="1200" dirty="0">
                <a:solidFill>
                  <a:srgbClr val="CFD0D8"/>
                </a:solidFill>
                <a:latin typeface="Roboto Medium" pitchFamily="34" charset="0"/>
                <a:ea typeface="Roboto Medium" pitchFamily="34" charset="-122"/>
                <a:cs typeface="Roboto Medium" pitchFamily="34" charset="-120"/>
              </a:rPr>
              <a:t>Global Market Visibility</a:t>
            </a:r>
            <a:endParaRPr lang="en-US" sz="1200" dirty="0"/>
          </a:p>
        </p:txBody>
      </p:sp>
      <p:sp>
        <p:nvSpPr>
          <p:cNvPr id="6" name="Text 3"/>
          <p:cNvSpPr/>
          <p:nvPr/>
        </p:nvSpPr>
        <p:spPr>
          <a:xfrm>
            <a:off x="691530" y="1750963"/>
            <a:ext cx="3680222"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CFD0D8"/>
                </a:solidFill>
                <a:latin typeface="Roboto" pitchFamily="34" charset="0"/>
                <a:ea typeface="Roboto" pitchFamily="34" charset="-122"/>
                <a:cs typeface="Roboto" pitchFamily="34" charset="-120"/>
              </a:rPr>
              <a:t>No consolidated view of the global customer base and market trends, limiting the ability to capitalize on sales and profit opportunities at scale.</a:t>
            </a:r>
            <a:endParaRPr lang="en-US" sz="950" dirty="0"/>
          </a:p>
        </p:txBody>
      </p:sp>
      <p:pic>
        <p:nvPicPr>
          <p:cNvPr id="7" name="Image 1" descr="preencoded.png"/>
          <p:cNvPicPr>
            <a:picLocks noChangeAspect="1"/>
          </p:cNvPicPr>
          <p:nvPr/>
        </p:nvPicPr>
        <p:blipFill>
          <a:blip r:embed="rId3">
            <a:extLst>
              <a:ext uri="{96DAC541-7B7A-43D3-8B79-37D633B846F1}">
                <asvg:svgBlip xmlns:asvg="http://schemas.microsoft.com/office/drawing/2016/SVG/main" xmlns="" r:embed="rId5"/>
              </a:ext>
            </a:extLst>
          </a:blip>
          <a:stretch>
            <a:fillRect/>
          </a:stretch>
        </p:blipFill>
        <p:spPr>
          <a:xfrm>
            <a:off x="4633987" y="1344439"/>
            <a:ext cx="4013895" cy="1140172"/>
          </a:xfrm>
          <a:prstGeom prst="rect">
            <a:avLst/>
          </a:prstGeom>
        </p:spPr>
      </p:pic>
      <p:sp>
        <p:nvSpPr>
          <p:cNvPr id="8" name="Text 4"/>
          <p:cNvSpPr/>
          <p:nvPr/>
        </p:nvSpPr>
        <p:spPr>
          <a:xfrm>
            <a:off x="4829398" y="1482700"/>
            <a:ext cx="3680222" cy="193849"/>
          </a:xfrm>
          <a:prstGeom prst="rect">
            <a:avLst/>
          </a:prstGeom>
          <a:noFill/>
          <a:ln/>
        </p:spPr>
        <p:txBody>
          <a:bodyPr wrap="none" lIns="0" tIns="0" rIns="0" bIns="0" rtlCol="0" anchor="t"/>
          <a:lstStyle/>
          <a:p>
            <a:pPr marL="0" indent="0" algn="l">
              <a:lnSpc>
                <a:spcPct val="104000"/>
              </a:lnSpc>
              <a:buNone/>
            </a:pPr>
            <a:r>
              <a:rPr lang="en-US" sz="1200" dirty="0">
                <a:solidFill>
                  <a:srgbClr val="CFD0D8"/>
                </a:solidFill>
                <a:latin typeface="Roboto Medium" pitchFamily="34" charset="0"/>
                <a:ea typeface="Roboto Medium" pitchFamily="34" charset="-122"/>
                <a:cs typeface="Roboto Medium" pitchFamily="34" charset="-120"/>
              </a:rPr>
              <a:t>Customer &amp; Segment Clarity</a:t>
            </a:r>
            <a:endParaRPr lang="en-US" sz="1200" dirty="0"/>
          </a:p>
        </p:txBody>
      </p:sp>
      <p:sp>
        <p:nvSpPr>
          <p:cNvPr id="9" name="Text 5"/>
          <p:cNvSpPr/>
          <p:nvPr/>
        </p:nvSpPr>
        <p:spPr>
          <a:xfrm>
            <a:off x="4829398" y="1750963"/>
            <a:ext cx="3680222"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CFD0D8"/>
                </a:solidFill>
                <a:latin typeface="Roboto" pitchFamily="34" charset="0"/>
                <a:ea typeface="Roboto" pitchFamily="34" charset="-122"/>
                <a:cs typeface="Roboto" pitchFamily="34" charset="-120"/>
              </a:rPr>
              <a:t>Insufficient segmentation data to identify which customer profiles and market segments to prioritize in upcoming years.</a:t>
            </a:r>
            <a:endParaRPr lang="en-US" sz="950" dirty="0"/>
          </a:p>
        </p:txBody>
      </p:sp>
      <p:pic>
        <p:nvPicPr>
          <p:cNvPr id="10" name="Image 2" descr="preencoded.png"/>
          <p:cNvPicPr>
            <a:picLocks noChangeAspect="1"/>
          </p:cNvPicPr>
          <p:nvPr/>
        </p:nvPicPr>
        <p:blipFill>
          <a:blip r:embed="rId6">
            <a:extLst>
              <a:ext uri="{96DAC541-7B7A-43D3-8B79-37D633B846F1}">
                <asvg:svgBlip xmlns:asvg="http://schemas.microsoft.com/office/drawing/2016/SVG/main" xmlns="" r:embed="rId7"/>
              </a:ext>
            </a:extLst>
          </a:blip>
          <a:stretch>
            <a:fillRect/>
          </a:stretch>
        </p:blipFill>
        <p:spPr>
          <a:xfrm>
            <a:off x="496119" y="2608585"/>
            <a:ext cx="4013895" cy="941710"/>
          </a:xfrm>
          <a:prstGeom prst="rect">
            <a:avLst/>
          </a:prstGeom>
        </p:spPr>
      </p:pic>
      <p:sp>
        <p:nvSpPr>
          <p:cNvPr id="11" name="Text 6"/>
          <p:cNvSpPr/>
          <p:nvPr/>
        </p:nvSpPr>
        <p:spPr>
          <a:xfrm>
            <a:off x="691530" y="2746846"/>
            <a:ext cx="3680222" cy="193849"/>
          </a:xfrm>
          <a:prstGeom prst="rect">
            <a:avLst/>
          </a:prstGeom>
          <a:noFill/>
          <a:ln/>
        </p:spPr>
        <p:txBody>
          <a:bodyPr wrap="none" lIns="0" tIns="0" rIns="0" bIns="0" rtlCol="0" anchor="t"/>
          <a:lstStyle/>
          <a:p>
            <a:pPr marL="0" indent="0" algn="l">
              <a:lnSpc>
                <a:spcPct val="104000"/>
              </a:lnSpc>
              <a:buNone/>
            </a:pPr>
            <a:r>
              <a:rPr lang="en-US" sz="1200" dirty="0">
                <a:solidFill>
                  <a:srgbClr val="CFD0D8"/>
                </a:solidFill>
                <a:latin typeface="Roboto Medium" pitchFamily="34" charset="0"/>
                <a:ea typeface="Roboto Medium" pitchFamily="34" charset="-122"/>
                <a:cs typeface="Roboto Medium" pitchFamily="34" charset="-120"/>
              </a:rPr>
              <a:t>Underperforming Markets</a:t>
            </a:r>
            <a:endParaRPr lang="en-US" sz="1200" dirty="0"/>
          </a:p>
        </p:txBody>
      </p:sp>
      <p:sp>
        <p:nvSpPr>
          <p:cNvPr id="12" name="Text 7"/>
          <p:cNvSpPr/>
          <p:nvPr/>
        </p:nvSpPr>
        <p:spPr>
          <a:xfrm>
            <a:off x="691530" y="3015109"/>
            <a:ext cx="3680222"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CFD0D8"/>
                </a:solidFill>
                <a:latin typeface="Roboto" pitchFamily="34" charset="0"/>
                <a:ea typeface="Roboto" pitchFamily="34" charset="-122"/>
                <a:cs typeface="Roboto" pitchFamily="34" charset="-120"/>
              </a:rPr>
              <a:t>Lack of actionable intelligence on how to scale operations and improve profitability in currently underperforming countries.</a:t>
            </a:r>
            <a:endParaRPr lang="en-US" sz="950" dirty="0"/>
          </a:p>
        </p:txBody>
      </p:sp>
      <p:pic>
        <p:nvPicPr>
          <p:cNvPr id="13" name="Image 3" descr="preencoded.png"/>
          <p:cNvPicPr>
            <a:picLocks noChangeAspect="1"/>
          </p:cNvPicPr>
          <p:nvPr/>
        </p:nvPicPr>
        <p:blipFill>
          <a:blip r:embed="rId6">
            <a:extLst>
              <a:ext uri="{96DAC541-7B7A-43D3-8B79-37D633B846F1}">
                <asvg:svgBlip xmlns:asvg="http://schemas.microsoft.com/office/drawing/2016/SVG/main" xmlns="" r:embed="rId8"/>
              </a:ext>
            </a:extLst>
          </a:blip>
          <a:stretch>
            <a:fillRect/>
          </a:stretch>
        </p:blipFill>
        <p:spPr>
          <a:xfrm>
            <a:off x="4633987" y="2608585"/>
            <a:ext cx="4013895" cy="941710"/>
          </a:xfrm>
          <a:prstGeom prst="rect">
            <a:avLst/>
          </a:prstGeom>
        </p:spPr>
      </p:pic>
      <p:sp>
        <p:nvSpPr>
          <p:cNvPr id="14" name="Text 8"/>
          <p:cNvSpPr/>
          <p:nvPr/>
        </p:nvSpPr>
        <p:spPr>
          <a:xfrm>
            <a:off x="4829398" y="2746846"/>
            <a:ext cx="3680222" cy="193849"/>
          </a:xfrm>
          <a:prstGeom prst="rect">
            <a:avLst/>
          </a:prstGeom>
          <a:noFill/>
          <a:ln/>
        </p:spPr>
        <p:txBody>
          <a:bodyPr wrap="none" lIns="0" tIns="0" rIns="0" bIns="0" rtlCol="0" anchor="t"/>
          <a:lstStyle/>
          <a:p>
            <a:pPr marL="0" indent="0" algn="l">
              <a:lnSpc>
                <a:spcPct val="104000"/>
              </a:lnSpc>
              <a:buNone/>
            </a:pPr>
            <a:r>
              <a:rPr lang="en-US" sz="1200" dirty="0">
                <a:solidFill>
                  <a:srgbClr val="CFD0D8"/>
                </a:solidFill>
                <a:latin typeface="Roboto Medium" pitchFamily="34" charset="0"/>
                <a:ea typeface="Roboto Medium" pitchFamily="34" charset="-122"/>
                <a:cs typeface="Roboto Medium" pitchFamily="34" charset="-120"/>
              </a:rPr>
              <a:t>Customer Preference Intelligence</a:t>
            </a:r>
            <a:endParaRPr lang="en-US" sz="1200" dirty="0"/>
          </a:p>
        </p:txBody>
      </p:sp>
      <p:sp>
        <p:nvSpPr>
          <p:cNvPr id="15" name="Text 9"/>
          <p:cNvSpPr/>
          <p:nvPr/>
        </p:nvSpPr>
        <p:spPr>
          <a:xfrm>
            <a:off x="4829398" y="3015109"/>
            <a:ext cx="3680222"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CFD0D8"/>
                </a:solidFill>
                <a:latin typeface="Roboto" pitchFamily="34" charset="0"/>
                <a:ea typeface="Roboto" pitchFamily="34" charset="-122"/>
                <a:cs typeface="Roboto" pitchFamily="34" charset="-120"/>
              </a:rPr>
              <a:t>No centralized system to track, analyze, and act on customer preferences and purchasing decision patterns.</a:t>
            </a:r>
            <a:endParaRPr lang="en-US" sz="950" dirty="0"/>
          </a:p>
        </p:txBody>
      </p:sp>
      <p:pic>
        <p:nvPicPr>
          <p:cNvPr id="16" name="Image 4" descr="preencoded.png"/>
          <p:cNvPicPr>
            <a:picLocks noChangeAspect="1"/>
          </p:cNvPicPr>
          <p:nvPr/>
        </p:nvPicPr>
        <p:blipFill>
          <a:blip r:embed="rId6">
            <a:extLst>
              <a:ext uri="{96DAC541-7B7A-43D3-8B79-37D633B846F1}">
                <asvg:svgBlip xmlns:asvg="http://schemas.microsoft.com/office/drawing/2016/SVG/main" xmlns="" r:embed="rId10"/>
              </a:ext>
            </a:extLst>
          </a:blip>
          <a:stretch>
            <a:fillRect/>
          </a:stretch>
        </p:blipFill>
        <p:spPr>
          <a:xfrm>
            <a:off x="496119" y="3674269"/>
            <a:ext cx="4013895" cy="941710"/>
          </a:xfrm>
          <a:prstGeom prst="rect">
            <a:avLst/>
          </a:prstGeom>
        </p:spPr>
      </p:pic>
      <p:sp>
        <p:nvSpPr>
          <p:cNvPr id="17" name="Text 10"/>
          <p:cNvSpPr/>
          <p:nvPr/>
        </p:nvSpPr>
        <p:spPr>
          <a:xfrm>
            <a:off x="691530" y="3812530"/>
            <a:ext cx="3680222" cy="193849"/>
          </a:xfrm>
          <a:prstGeom prst="rect">
            <a:avLst/>
          </a:prstGeom>
          <a:noFill/>
          <a:ln/>
        </p:spPr>
        <p:txBody>
          <a:bodyPr wrap="none" lIns="0" tIns="0" rIns="0" bIns="0" rtlCol="0" anchor="t"/>
          <a:lstStyle/>
          <a:p>
            <a:pPr marL="0" indent="0" algn="l">
              <a:lnSpc>
                <a:spcPct val="104000"/>
              </a:lnSpc>
              <a:buNone/>
            </a:pPr>
            <a:r>
              <a:rPr lang="en-US" sz="1200" dirty="0">
                <a:solidFill>
                  <a:srgbClr val="CFD0D8"/>
                </a:solidFill>
                <a:latin typeface="Roboto Medium" pitchFamily="34" charset="0"/>
                <a:ea typeface="Roboto Medium" pitchFamily="34" charset="-122"/>
                <a:cs typeface="Roboto Medium" pitchFamily="34" charset="-120"/>
              </a:rPr>
              <a:t>Manufacturing Alignment</a:t>
            </a:r>
            <a:endParaRPr lang="en-US" sz="1200" dirty="0"/>
          </a:p>
        </p:txBody>
      </p:sp>
      <p:sp>
        <p:nvSpPr>
          <p:cNvPr id="18" name="Text 11"/>
          <p:cNvSpPr/>
          <p:nvPr/>
        </p:nvSpPr>
        <p:spPr>
          <a:xfrm>
            <a:off x="691530" y="4080793"/>
            <a:ext cx="3680222" cy="396925"/>
          </a:xfrm>
          <a:prstGeom prst="rect">
            <a:avLst/>
          </a:prstGeom>
          <a:noFill/>
          <a:ln/>
        </p:spPr>
        <p:txBody>
          <a:bodyPr wrap="square" lIns="0" tIns="0" rIns="0" bIns="0" rtlCol="0" anchor="t">
            <a:normAutofit/>
          </a:bodyPr>
          <a:lstStyle/>
          <a:p>
            <a:pPr marL="0" indent="0" algn="l">
              <a:lnSpc>
                <a:spcPct val="133000"/>
              </a:lnSpc>
              <a:buNone/>
            </a:pPr>
            <a:r>
              <a:rPr lang="en-US" sz="950" dirty="0" smtClean="0">
                <a:solidFill>
                  <a:srgbClr val="CFD0D8"/>
                </a:solidFill>
                <a:latin typeface="Roboto" pitchFamily="34" charset="0"/>
                <a:ea typeface="Roboto" pitchFamily="34" charset="-122"/>
                <a:cs typeface="Roboto" pitchFamily="34" charset="-120"/>
              </a:rPr>
              <a:t>Model demands </a:t>
            </a:r>
            <a:r>
              <a:rPr lang="en-US" sz="950" dirty="0">
                <a:solidFill>
                  <a:srgbClr val="CFD0D8"/>
                </a:solidFill>
                <a:latin typeface="Roboto" pitchFamily="34" charset="0"/>
                <a:ea typeface="Roboto" pitchFamily="34" charset="-122"/>
                <a:cs typeface="Roboto" pitchFamily="34" charset="-120"/>
              </a:rPr>
              <a:t>are unclear, making it difficult to align production planning with actual market needs.</a:t>
            </a:r>
            <a:endParaRPr lang="en-US" sz="950" dirty="0"/>
          </a:p>
        </p:txBody>
      </p:sp>
      <p:pic>
        <p:nvPicPr>
          <p:cNvPr id="19" name="Image 5" descr="preencoded.png"/>
          <p:cNvPicPr>
            <a:picLocks noChangeAspect="1"/>
          </p:cNvPicPr>
          <p:nvPr/>
        </p:nvPicPr>
        <p:blipFill>
          <a:blip r:embed="rId6">
            <a:extLst>
              <a:ext uri="{96DAC541-7B7A-43D3-8B79-37D633B846F1}">
                <asvg:svgBlip xmlns:asvg="http://schemas.microsoft.com/office/drawing/2016/SVG/main" xmlns="" r:embed="rId12"/>
              </a:ext>
            </a:extLst>
          </a:blip>
          <a:stretch>
            <a:fillRect/>
          </a:stretch>
        </p:blipFill>
        <p:spPr>
          <a:xfrm>
            <a:off x="4633987" y="3674269"/>
            <a:ext cx="4013895" cy="941710"/>
          </a:xfrm>
          <a:prstGeom prst="rect">
            <a:avLst/>
          </a:prstGeom>
        </p:spPr>
      </p:pic>
      <p:sp>
        <p:nvSpPr>
          <p:cNvPr id="20" name="Text 12"/>
          <p:cNvSpPr/>
          <p:nvPr/>
        </p:nvSpPr>
        <p:spPr>
          <a:xfrm>
            <a:off x="4829398" y="3812530"/>
            <a:ext cx="3680222" cy="193849"/>
          </a:xfrm>
          <a:prstGeom prst="rect">
            <a:avLst/>
          </a:prstGeom>
          <a:noFill/>
          <a:ln/>
        </p:spPr>
        <p:txBody>
          <a:bodyPr wrap="none" lIns="0" tIns="0" rIns="0" bIns="0" rtlCol="0" anchor="t"/>
          <a:lstStyle/>
          <a:p>
            <a:pPr marL="0" indent="0" algn="l">
              <a:lnSpc>
                <a:spcPct val="104000"/>
              </a:lnSpc>
              <a:buNone/>
            </a:pPr>
            <a:r>
              <a:rPr lang="en-US" sz="1200" dirty="0">
                <a:solidFill>
                  <a:srgbClr val="CFD0D8"/>
                </a:solidFill>
                <a:latin typeface="Roboto Medium" pitchFamily="34" charset="0"/>
                <a:ea typeface="Roboto Medium" pitchFamily="34" charset="-122"/>
                <a:cs typeface="Roboto Medium" pitchFamily="34" charset="-120"/>
              </a:rPr>
              <a:t>Financial Forecasting Gap</a:t>
            </a:r>
            <a:endParaRPr lang="en-US" sz="1200" dirty="0"/>
          </a:p>
        </p:txBody>
      </p:sp>
      <p:sp>
        <p:nvSpPr>
          <p:cNvPr id="21" name="Text 13"/>
          <p:cNvSpPr/>
          <p:nvPr/>
        </p:nvSpPr>
        <p:spPr>
          <a:xfrm>
            <a:off x="4829398" y="4080793"/>
            <a:ext cx="3680222"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CFD0D8"/>
                </a:solidFill>
                <a:latin typeface="Roboto" pitchFamily="34" charset="0"/>
                <a:ea typeface="Roboto" pitchFamily="34" charset="-122"/>
                <a:cs typeface="Roboto" pitchFamily="34" charset="-120"/>
              </a:rPr>
              <a:t>Absence of a structured financial overview and performance statistics for the 2026 planning cycle.</a:t>
            </a:r>
            <a:endParaRPr lang="en-US" sz="950" dirty="0"/>
          </a:p>
        </p:txBody>
      </p:sp>
      <p:sp>
        <p:nvSpPr>
          <p:cNvPr id="22" name="Rounded Rectangle 21"/>
          <p:cNvSpPr/>
          <p:nvPr/>
        </p:nvSpPr>
        <p:spPr>
          <a:xfrm>
            <a:off x="8052816" y="4870704"/>
            <a:ext cx="1030224" cy="213360"/>
          </a:xfrm>
          <a:prstGeom prst="roundRect">
            <a:avLst/>
          </a:prstGeom>
          <a:solidFill>
            <a:srgbClr val="000019"/>
          </a:solidFill>
          <a:ln>
            <a:solidFill>
              <a:srgbClr val="0000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6119" y="342156"/>
            <a:ext cx="8151763" cy="193849"/>
          </a:xfrm>
          <a:prstGeom prst="rect">
            <a:avLst/>
          </a:prstGeom>
          <a:noFill/>
          <a:ln/>
        </p:spPr>
        <p:txBody>
          <a:bodyPr wrap="none" lIns="0" tIns="0" rIns="0" bIns="0" rtlCol="0" anchor="t"/>
          <a:lstStyle/>
          <a:p>
            <a:pPr marL="0" indent="0" algn="l">
              <a:lnSpc>
                <a:spcPct val="104000"/>
              </a:lnSpc>
              <a:buNone/>
            </a:pPr>
            <a:r>
              <a:rPr lang="en-US" sz="1200" dirty="0">
                <a:solidFill>
                  <a:srgbClr val="FFFFFF"/>
                </a:solidFill>
                <a:latin typeface="Roboto Medium" pitchFamily="34" charset="0"/>
                <a:ea typeface="Roboto Medium" pitchFamily="34" charset="-122"/>
                <a:cs typeface="Roboto Medium" pitchFamily="34" charset="-120"/>
              </a:rPr>
              <a:t>Dataset Composition</a:t>
            </a:r>
            <a:endParaRPr lang="en-US" sz="1200" dirty="0"/>
          </a:p>
        </p:txBody>
      </p:sp>
      <p:sp>
        <p:nvSpPr>
          <p:cNvPr id="3" name="Text 1"/>
          <p:cNvSpPr/>
          <p:nvPr/>
        </p:nvSpPr>
        <p:spPr>
          <a:xfrm>
            <a:off x="453957" y="585564"/>
            <a:ext cx="8193925" cy="387548"/>
          </a:xfrm>
          <a:prstGeom prst="rect">
            <a:avLst/>
          </a:prstGeom>
          <a:noFill/>
          <a:ln/>
        </p:spPr>
        <p:txBody>
          <a:bodyPr wrap="none" lIns="0" tIns="0" rIns="0" bIns="0" rtlCol="0" anchor="t"/>
          <a:lstStyle/>
          <a:p>
            <a:pPr marL="0" indent="0" algn="l">
              <a:lnSpc>
                <a:spcPct val="104000"/>
              </a:lnSpc>
              <a:buNone/>
            </a:pPr>
            <a:r>
              <a:rPr lang="en-US" dirty="0">
                <a:solidFill>
                  <a:srgbClr val="FFFFFF"/>
                </a:solidFill>
                <a:latin typeface="Roboto Medium" pitchFamily="34" charset="0"/>
                <a:ea typeface="Roboto Medium" pitchFamily="34" charset="-122"/>
                <a:cs typeface="Roboto Medium" pitchFamily="34" charset="-120"/>
              </a:rPr>
              <a:t>Five Core Tables Powering the Analysis</a:t>
            </a:r>
            <a:endParaRPr lang="en-US" dirty="0"/>
          </a:p>
        </p:txBody>
      </p:sp>
      <p:pic>
        <p:nvPicPr>
          <p:cNvPr id="4" name="Image 0" descr="preencoded.png"/>
          <p:cNvPicPr>
            <a:picLocks noChangeAspect="1"/>
          </p:cNvPicPr>
          <p:nvPr/>
        </p:nvPicPr>
        <p:blipFill>
          <a:blip r:embed="rId3"/>
          <a:stretch>
            <a:fillRect/>
          </a:stretch>
        </p:blipFill>
        <p:spPr>
          <a:xfrm>
            <a:off x="496119" y="1298674"/>
            <a:ext cx="1428750" cy="1428750"/>
          </a:xfrm>
          <a:prstGeom prst="rect">
            <a:avLst/>
          </a:prstGeom>
        </p:spPr>
      </p:pic>
      <p:sp>
        <p:nvSpPr>
          <p:cNvPr id="5" name="Shape 2"/>
          <p:cNvSpPr/>
          <p:nvPr/>
        </p:nvSpPr>
        <p:spPr>
          <a:xfrm>
            <a:off x="3882554" y="1298674"/>
            <a:ext cx="2322984" cy="594977"/>
          </a:xfrm>
          <a:prstGeom prst="roundRect">
            <a:avLst>
              <a:gd name="adj" fmla="val 4450"/>
            </a:avLst>
          </a:prstGeom>
          <a:solidFill>
            <a:srgbClr val="182567"/>
          </a:solidFill>
          <a:ln w="4763">
            <a:solidFill>
              <a:srgbClr val="313E80"/>
            </a:solidFill>
            <a:prstDash val="solid"/>
          </a:ln>
        </p:spPr>
      </p:sp>
      <p:sp>
        <p:nvSpPr>
          <p:cNvPr id="6" name="Text 3"/>
          <p:cNvSpPr/>
          <p:nvPr/>
        </p:nvSpPr>
        <p:spPr>
          <a:xfrm>
            <a:off x="4011290" y="1427411"/>
            <a:ext cx="2065511" cy="193849"/>
          </a:xfrm>
          <a:prstGeom prst="rect">
            <a:avLst/>
          </a:prstGeom>
          <a:noFill/>
          <a:ln/>
        </p:spPr>
        <p:txBody>
          <a:bodyPr wrap="none" lIns="0" tIns="0" rIns="0" bIns="0" rtlCol="0" anchor="t"/>
          <a:lstStyle/>
          <a:p>
            <a:pPr marL="0" indent="0" algn="l">
              <a:lnSpc>
                <a:spcPct val="104000"/>
              </a:lnSpc>
              <a:buNone/>
            </a:pPr>
            <a:r>
              <a:rPr lang="en-US" sz="1200" dirty="0">
                <a:solidFill>
                  <a:srgbClr val="CFD0D8"/>
                </a:solidFill>
                <a:latin typeface="Roboto Medium" pitchFamily="34" charset="0"/>
                <a:ea typeface="Roboto Medium" pitchFamily="34" charset="-122"/>
                <a:cs typeface="Roboto Medium" pitchFamily="34" charset="-120"/>
              </a:rPr>
              <a:t>Sales</a:t>
            </a:r>
            <a:endParaRPr lang="en-US" sz="1200" dirty="0"/>
          </a:p>
        </p:txBody>
      </p:sp>
      <p:sp>
        <p:nvSpPr>
          <p:cNvPr id="7" name="Text 4"/>
          <p:cNvSpPr/>
          <p:nvPr/>
        </p:nvSpPr>
        <p:spPr>
          <a:xfrm>
            <a:off x="4011290" y="1745233"/>
            <a:ext cx="2065511" cy="595387"/>
          </a:xfrm>
          <a:prstGeom prst="rect">
            <a:avLst/>
          </a:prstGeom>
          <a:noFill/>
          <a:ln/>
        </p:spPr>
        <p:txBody>
          <a:bodyPr wrap="square" lIns="0" tIns="0" rIns="0" bIns="0" rtlCol="0" anchor="t">
            <a:normAutofit/>
          </a:bodyPr>
          <a:lstStyle/>
          <a:p>
            <a:pPr marL="0" indent="0" algn="l">
              <a:lnSpc>
                <a:spcPct val="133000"/>
              </a:lnSpc>
              <a:buNone/>
            </a:pPr>
            <a:endParaRPr lang="en-US" sz="950" dirty="0"/>
          </a:p>
        </p:txBody>
      </p:sp>
      <p:sp>
        <p:nvSpPr>
          <p:cNvPr id="8" name="Shape 5"/>
          <p:cNvSpPr/>
          <p:nvPr/>
        </p:nvSpPr>
        <p:spPr>
          <a:xfrm>
            <a:off x="6329511" y="1298674"/>
            <a:ext cx="2323058" cy="594977"/>
          </a:xfrm>
          <a:prstGeom prst="roundRect">
            <a:avLst>
              <a:gd name="adj" fmla="val 4450"/>
            </a:avLst>
          </a:prstGeom>
          <a:solidFill>
            <a:srgbClr val="182567"/>
          </a:solidFill>
          <a:ln w="4763">
            <a:solidFill>
              <a:srgbClr val="313E80"/>
            </a:solidFill>
            <a:prstDash val="solid"/>
          </a:ln>
        </p:spPr>
      </p:sp>
      <p:sp>
        <p:nvSpPr>
          <p:cNvPr id="9" name="Text 6"/>
          <p:cNvSpPr/>
          <p:nvPr/>
        </p:nvSpPr>
        <p:spPr>
          <a:xfrm>
            <a:off x="6458248" y="1427411"/>
            <a:ext cx="2065586" cy="193849"/>
          </a:xfrm>
          <a:prstGeom prst="rect">
            <a:avLst/>
          </a:prstGeom>
          <a:noFill/>
          <a:ln/>
        </p:spPr>
        <p:txBody>
          <a:bodyPr wrap="none" lIns="0" tIns="0" rIns="0" bIns="0" rtlCol="0" anchor="t"/>
          <a:lstStyle/>
          <a:p>
            <a:pPr marL="0" indent="0" algn="l">
              <a:lnSpc>
                <a:spcPct val="104000"/>
              </a:lnSpc>
              <a:buNone/>
            </a:pPr>
            <a:r>
              <a:rPr lang="en-US" sz="1200" dirty="0">
                <a:solidFill>
                  <a:srgbClr val="CFD0D8"/>
                </a:solidFill>
                <a:latin typeface="Roboto Medium" pitchFamily="34" charset="0"/>
                <a:ea typeface="Roboto Medium" pitchFamily="34" charset="-122"/>
                <a:cs typeface="Roboto Medium" pitchFamily="34" charset="-120"/>
              </a:rPr>
              <a:t>Customers</a:t>
            </a:r>
            <a:endParaRPr lang="en-US" sz="1200" dirty="0"/>
          </a:p>
        </p:txBody>
      </p:sp>
      <p:sp>
        <p:nvSpPr>
          <p:cNvPr id="10" name="Text 7"/>
          <p:cNvSpPr/>
          <p:nvPr/>
        </p:nvSpPr>
        <p:spPr>
          <a:xfrm>
            <a:off x="6458248" y="1745233"/>
            <a:ext cx="2065586" cy="595387"/>
          </a:xfrm>
          <a:prstGeom prst="rect">
            <a:avLst/>
          </a:prstGeom>
          <a:noFill/>
          <a:ln/>
        </p:spPr>
        <p:txBody>
          <a:bodyPr wrap="square" lIns="0" tIns="0" rIns="0" bIns="0" rtlCol="0" anchor="t">
            <a:normAutofit/>
          </a:bodyPr>
          <a:lstStyle/>
          <a:p>
            <a:pPr marL="0" indent="0" algn="l">
              <a:lnSpc>
                <a:spcPct val="133000"/>
              </a:lnSpc>
              <a:buNone/>
            </a:pPr>
            <a:endParaRPr lang="en-US" sz="950" dirty="0"/>
          </a:p>
        </p:txBody>
      </p:sp>
      <p:sp>
        <p:nvSpPr>
          <p:cNvPr id="11" name="Shape 8"/>
          <p:cNvSpPr/>
          <p:nvPr/>
        </p:nvSpPr>
        <p:spPr>
          <a:xfrm>
            <a:off x="3882554" y="2593330"/>
            <a:ext cx="2322984" cy="493581"/>
          </a:xfrm>
          <a:prstGeom prst="roundRect">
            <a:avLst>
              <a:gd name="adj" fmla="val 4450"/>
            </a:avLst>
          </a:prstGeom>
          <a:solidFill>
            <a:srgbClr val="182567"/>
          </a:solidFill>
          <a:ln w="4763">
            <a:solidFill>
              <a:srgbClr val="313E80"/>
            </a:solidFill>
            <a:prstDash val="solid"/>
          </a:ln>
        </p:spPr>
      </p:sp>
      <p:sp>
        <p:nvSpPr>
          <p:cNvPr id="12" name="Text 9"/>
          <p:cNvSpPr/>
          <p:nvPr/>
        </p:nvSpPr>
        <p:spPr>
          <a:xfrm>
            <a:off x="4011290" y="2722066"/>
            <a:ext cx="2065511" cy="193849"/>
          </a:xfrm>
          <a:prstGeom prst="rect">
            <a:avLst/>
          </a:prstGeom>
          <a:noFill/>
          <a:ln/>
        </p:spPr>
        <p:txBody>
          <a:bodyPr wrap="none" lIns="0" tIns="0" rIns="0" bIns="0" rtlCol="0" anchor="t"/>
          <a:lstStyle/>
          <a:p>
            <a:pPr marL="0" indent="0" algn="l">
              <a:lnSpc>
                <a:spcPct val="104000"/>
              </a:lnSpc>
              <a:buNone/>
            </a:pPr>
            <a:r>
              <a:rPr lang="en-US" sz="1200" dirty="0">
                <a:solidFill>
                  <a:srgbClr val="CFD0D8"/>
                </a:solidFill>
                <a:latin typeface="Roboto Medium" pitchFamily="34" charset="0"/>
                <a:ea typeface="Roboto Medium" pitchFamily="34" charset="-122"/>
                <a:cs typeface="Roboto Medium" pitchFamily="34" charset="-120"/>
              </a:rPr>
              <a:t>Dealers</a:t>
            </a:r>
            <a:endParaRPr lang="en-US" sz="1200" dirty="0"/>
          </a:p>
        </p:txBody>
      </p:sp>
      <p:sp>
        <p:nvSpPr>
          <p:cNvPr id="13" name="Text 10"/>
          <p:cNvSpPr/>
          <p:nvPr/>
        </p:nvSpPr>
        <p:spPr>
          <a:xfrm>
            <a:off x="4011290" y="3039889"/>
            <a:ext cx="2065511" cy="595387"/>
          </a:xfrm>
          <a:prstGeom prst="rect">
            <a:avLst/>
          </a:prstGeom>
          <a:noFill/>
          <a:ln/>
        </p:spPr>
        <p:txBody>
          <a:bodyPr wrap="square" lIns="0" tIns="0" rIns="0" bIns="0" rtlCol="0" anchor="t">
            <a:normAutofit/>
          </a:bodyPr>
          <a:lstStyle/>
          <a:p>
            <a:pPr marL="0" indent="0" algn="l">
              <a:lnSpc>
                <a:spcPct val="133000"/>
              </a:lnSpc>
              <a:buNone/>
            </a:pPr>
            <a:endParaRPr lang="en-US" sz="950" dirty="0"/>
          </a:p>
        </p:txBody>
      </p:sp>
      <p:sp>
        <p:nvSpPr>
          <p:cNvPr id="14" name="Shape 11"/>
          <p:cNvSpPr/>
          <p:nvPr/>
        </p:nvSpPr>
        <p:spPr>
          <a:xfrm>
            <a:off x="6329511" y="2593330"/>
            <a:ext cx="2323058" cy="493581"/>
          </a:xfrm>
          <a:prstGeom prst="roundRect">
            <a:avLst>
              <a:gd name="adj" fmla="val 4450"/>
            </a:avLst>
          </a:prstGeom>
          <a:solidFill>
            <a:srgbClr val="182567"/>
          </a:solidFill>
          <a:ln w="4763">
            <a:solidFill>
              <a:srgbClr val="313E80"/>
            </a:solidFill>
            <a:prstDash val="solid"/>
          </a:ln>
        </p:spPr>
      </p:sp>
      <p:sp>
        <p:nvSpPr>
          <p:cNvPr id="15" name="Text 12"/>
          <p:cNvSpPr/>
          <p:nvPr/>
        </p:nvSpPr>
        <p:spPr>
          <a:xfrm>
            <a:off x="6458248" y="2722066"/>
            <a:ext cx="2065586" cy="193849"/>
          </a:xfrm>
          <a:prstGeom prst="rect">
            <a:avLst/>
          </a:prstGeom>
          <a:noFill/>
          <a:ln/>
        </p:spPr>
        <p:txBody>
          <a:bodyPr wrap="none" lIns="0" tIns="0" rIns="0" bIns="0" rtlCol="0" anchor="t"/>
          <a:lstStyle/>
          <a:p>
            <a:pPr marL="0" indent="0" algn="l">
              <a:lnSpc>
                <a:spcPct val="104000"/>
              </a:lnSpc>
              <a:buNone/>
            </a:pPr>
            <a:r>
              <a:rPr lang="en-US" sz="1200" dirty="0">
                <a:solidFill>
                  <a:srgbClr val="CFD0D8"/>
                </a:solidFill>
                <a:latin typeface="Roboto Medium" pitchFamily="34" charset="0"/>
                <a:ea typeface="Roboto Medium" pitchFamily="34" charset="-122"/>
                <a:cs typeface="Roboto Medium" pitchFamily="34" charset="-120"/>
              </a:rPr>
              <a:t>Date</a:t>
            </a:r>
            <a:endParaRPr lang="en-US" sz="1200" dirty="0"/>
          </a:p>
        </p:txBody>
      </p:sp>
      <p:sp>
        <p:nvSpPr>
          <p:cNvPr id="16" name="Text 13"/>
          <p:cNvSpPr/>
          <p:nvPr/>
        </p:nvSpPr>
        <p:spPr>
          <a:xfrm>
            <a:off x="6458248" y="3039889"/>
            <a:ext cx="2065586" cy="595387"/>
          </a:xfrm>
          <a:prstGeom prst="rect">
            <a:avLst/>
          </a:prstGeom>
          <a:noFill/>
          <a:ln/>
        </p:spPr>
        <p:txBody>
          <a:bodyPr wrap="square" lIns="0" tIns="0" rIns="0" bIns="0" rtlCol="0" anchor="t">
            <a:normAutofit/>
          </a:bodyPr>
          <a:lstStyle/>
          <a:p>
            <a:pPr marL="0" indent="0" algn="l">
              <a:lnSpc>
                <a:spcPct val="133000"/>
              </a:lnSpc>
              <a:buNone/>
            </a:pPr>
            <a:endParaRPr lang="en-US" sz="950" dirty="0"/>
          </a:p>
        </p:txBody>
      </p:sp>
      <p:sp>
        <p:nvSpPr>
          <p:cNvPr id="17" name="Shape 14"/>
          <p:cNvSpPr/>
          <p:nvPr/>
        </p:nvSpPr>
        <p:spPr>
          <a:xfrm>
            <a:off x="3882554" y="3887986"/>
            <a:ext cx="4770016" cy="502431"/>
          </a:xfrm>
          <a:prstGeom prst="roundRect">
            <a:avLst>
              <a:gd name="adj" fmla="val 6733"/>
            </a:avLst>
          </a:prstGeom>
          <a:solidFill>
            <a:srgbClr val="182567"/>
          </a:solidFill>
          <a:ln w="4763">
            <a:solidFill>
              <a:srgbClr val="313E80"/>
            </a:solidFill>
            <a:prstDash val="solid"/>
          </a:ln>
        </p:spPr>
      </p:sp>
      <p:sp>
        <p:nvSpPr>
          <p:cNvPr id="18" name="Text 15"/>
          <p:cNvSpPr/>
          <p:nvPr/>
        </p:nvSpPr>
        <p:spPr>
          <a:xfrm>
            <a:off x="4011290" y="4016722"/>
            <a:ext cx="4512543" cy="193849"/>
          </a:xfrm>
          <a:prstGeom prst="rect">
            <a:avLst/>
          </a:prstGeom>
          <a:noFill/>
          <a:ln/>
        </p:spPr>
        <p:txBody>
          <a:bodyPr wrap="none" lIns="0" tIns="0" rIns="0" bIns="0" rtlCol="0" anchor="t"/>
          <a:lstStyle/>
          <a:p>
            <a:pPr marL="0" indent="0" algn="l">
              <a:lnSpc>
                <a:spcPct val="104000"/>
              </a:lnSpc>
              <a:buNone/>
            </a:pPr>
            <a:r>
              <a:rPr lang="en-US" sz="1200" dirty="0">
                <a:solidFill>
                  <a:srgbClr val="CFD0D8"/>
                </a:solidFill>
                <a:latin typeface="Roboto Medium" pitchFamily="34" charset="0"/>
                <a:ea typeface="Roboto Medium" pitchFamily="34" charset="-122"/>
                <a:cs typeface="Roboto Medium" pitchFamily="34" charset="-120"/>
              </a:rPr>
              <a:t>Product</a:t>
            </a:r>
            <a:endParaRPr lang="en-US" sz="1200" dirty="0"/>
          </a:p>
        </p:txBody>
      </p:sp>
      <p:sp>
        <p:nvSpPr>
          <p:cNvPr id="19" name="Text 16"/>
          <p:cNvSpPr/>
          <p:nvPr/>
        </p:nvSpPr>
        <p:spPr>
          <a:xfrm>
            <a:off x="4011290" y="4334545"/>
            <a:ext cx="4512543" cy="198462"/>
          </a:xfrm>
          <a:prstGeom prst="rect">
            <a:avLst/>
          </a:prstGeom>
          <a:noFill/>
          <a:ln/>
        </p:spPr>
        <p:txBody>
          <a:bodyPr wrap="none" lIns="0" tIns="0" rIns="0" bIns="0" rtlCol="0" anchor="t"/>
          <a:lstStyle/>
          <a:p>
            <a:pPr marL="0" indent="0" algn="l">
              <a:lnSpc>
                <a:spcPct val="133000"/>
              </a:lnSpc>
              <a:buNone/>
            </a:pPr>
            <a:endParaRPr lang="en-US" sz="950" dirty="0"/>
          </a:p>
        </p:txBody>
      </p:sp>
      <p:sp>
        <p:nvSpPr>
          <p:cNvPr id="20" name="Rounded Rectangle 19"/>
          <p:cNvSpPr/>
          <p:nvPr/>
        </p:nvSpPr>
        <p:spPr>
          <a:xfrm>
            <a:off x="8052816" y="4870704"/>
            <a:ext cx="1030224" cy="213360"/>
          </a:xfrm>
          <a:prstGeom prst="roundRect">
            <a:avLst/>
          </a:prstGeom>
          <a:solidFill>
            <a:srgbClr val="000019"/>
          </a:solidFill>
          <a:ln>
            <a:solidFill>
              <a:srgbClr val="0000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37920" y="1196024"/>
            <a:ext cx="6942819" cy="3730624"/>
          </a:xfrm>
          <a:prstGeom prst="rect">
            <a:avLst/>
          </a:prstGeom>
        </p:spPr>
      </p:pic>
      <p:sp>
        <p:nvSpPr>
          <p:cNvPr id="8" name="Text 5"/>
          <p:cNvSpPr/>
          <p:nvPr/>
        </p:nvSpPr>
        <p:spPr>
          <a:xfrm>
            <a:off x="496119" y="2002110"/>
            <a:ext cx="8151763" cy="96887"/>
          </a:xfrm>
          <a:prstGeom prst="rect">
            <a:avLst/>
          </a:prstGeom>
          <a:noFill/>
          <a:ln/>
        </p:spPr>
        <p:txBody>
          <a:bodyPr wrap="none" lIns="0" tIns="0" rIns="0" bIns="0" rtlCol="0" anchor="t"/>
          <a:lstStyle/>
          <a:p>
            <a:pPr marL="0" indent="0" algn="l">
              <a:lnSpc>
                <a:spcPct val="104000"/>
              </a:lnSpc>
              <a:buNone/>
            </a:pPr>
            <a:endParaRPr lang="en-US" sz="600" dirty="0"/>
          </a:p>
        </p:txBody>
      </p:sp>
      <p:sp>
        <p:nvSpPr>
          <p:cNvPr id="12" name="Text 8"/>
          <p:cNvSpPr/>
          <p:nvPr/>
        </p:nvSpPr>
        <p:spPr>
          <a:xfrm>
            <a:off x="1472238" y="3822997"/>
            <a:ext cx="1190129" cy="229263"/>
          </a:xfrm>
          <a:prstGeom prst="rect">
            <a:avLst/>
          </a:prstGeom>
          <a:noFill/>
          <a:ln/>
        </p:spPr>
        <p:txBody>
          <a:bodyPr wrap="none" lIns="0" tIns="0" rIns="0" bIns="0" rtlCol="0" anchor="t"/>
          <a:lstStyle/>
          <a:p>
            <a:pPr marL="0" indent="0" algn="ctr">
              <a:lnSpc>
                <a:spcPct val="104000"/>
              </a:lnSpc>
              <a:buNone/>
            </a:pPr>
            <a:r>
              <a:rPr lang="en-US" sz="1400" dirty="0" smtClean="0">
                <a:solidFill>
                  <a:srgbClr val="CFD0D8"/>
                </a:solidFill>
                <a:latin typeface="Roboto Medium" pitchFamily="34" charset="0"/>
                <a:ea typeface="Roboto Medium" pitchFamily="34" charset="-122"/>
                <a:cs typeface="Roboto Medium" pitchFamily="34" charset="-120"/>
              </a:rPr>
              <a:t> Data </a:t>
            </a:r>
            <a:r>
              <a:rPr lang="en-US" sz="1400" dirty="0">
                <a:solidFill>
                  <a:srgbClr val="CFD0D8"/>
                </a:solidFill>
                <a:latin typeface="Roboto Medium" pitchFamily="34" charset="0"/>
                <a:ea typeface="Roboto Medium" pitchFamily="34" charset="-122"/>
                <a:cs typeface="Roboto Medium" pitchFamily="34" charset="-120"/>
              </a:rPr>
              <a:t>Prep</a:t>
            </a:r>
            <a:endParaRPr lang="en-US" sz="1400" dirty="0"/>
          </a:p>
        </p:txBody>
      </p:sp>
      <p:sp>
        <p:nvSpPr>
          <p:cNvPr id="13" name="Text 9"/>
          <p:cNvSpPr/>
          <p:nvPr/>
        </p:nvSpPr>
        <p:spPr>
          <a:xfrm>
            <a:off x="496119" y="5316215"/>
            <a:ext cx="8608963" cy="74340"/>
          </a:xfrm>
          <a:prstGeom prst="rect">
            <a:avLst/>
          </a:prstGeom>
          <a:noFill/>
          <a:ln/>
        </p:spPr>
        <p:txBody>
          <a:bodyPr wrap="none" lIns="0" tIns="0" rIns="0" bIns="0" rtlCol="0" anchor="t"/>
          <a:lstStyle/>
          <a:p>
            <a:pPr marL="0" indent="0" algn="l">
              <a:lnSpc>
                <a:spcPct val="100000"/>
              </a:lnSpc>
              <a:buNone/>
            </a:pPr>
            <a:endParaRPr lang="en-US" sz="450" dirty="0"/>
          </a:p>
        </p:txBody>
      </p:sp>
      <p:sp>
        <p:nvSpPr>
          <p:cNvPr id="15" name="Text 8"/>
          <p:cNvSpPr/>
          <p:nvPr/>
        </p:nvSpPr>
        <p:spPr>
          <a:xfrm>
            <a:off x="5643356" y="3142933"/>
            <a:ext cx="2859377" cy="544739"/>
          </a:xfrm>
          <a:prstGeom prst="rect">
            <a:avLst/>
          </a:prstGeom>
          <a:noFill/>
          <a:ln/>
        </p:spPr>
        <p:txBody>
          <a:bodyPr wrap="none" lIns="0" tIns="0" rIns="0" bIns="0" rtlCol="0" anchor="t"/>
          <a:lstStyle/>
          <a:p>
            <a:pPr algn="ctr">
              <a:lnSpc>
                <a:spcPct val="104000"/>
              </a:lnSpc>
            </a:pPr>
            <a:r>
              <a:rPr lang="en-US" sz="1400" dirty="0">
                <a:solidFill>
                  <a:srgbClr val="CFD0D8"/>
                </a:solidFill>
                <a:latin typeface="Roboto Medium" pitchFamily="34" charset="0"/>
                <a:ea typeface="Roboto Medium" pitchFamily="34" charset="-122"/>
                <a:cs typeface="Roboto Medium" pitchFamily="34" charset="-120"/>
              </a:rPr>
              <a:t> Python </a:t>
            </a:r>
            <a:endParaRPr lang="en-US" sz="1400" dirty="0" smtClean="0">
              <a:solidFill>
                <a:srgbClr val="CFD0D8"/>
              </a:solidFill>
              <a:latin typeface="Roboto Medium" pitchFamily="34" charset="0"/>
              <a:ea typeface="Roboto Medium" pitchFamily="34" charset="-122"/>
              <a:cs typeface="Roboto Medium" pitchFamily="34" charset="-120"/>
            </a:endParaRPr>
          </a:p>
          <a:p>
            <a:pPr marL="0" indent="0" algn="ctr">
              <a:lnSpc>
                <a:spcPct val="104000"/>
              </a:lnSpc>
              <a:buNone/>
            </a:pPr>
            <a:r>
              <a:rPr lang="en-US" sz="1400" dirty="0" smtClean="0">
                <a:solidFill>
                  <a:srgbClr val="CFD0D8"/>
                </a:solidFill>
                <a:latin typeface="Roboto Medium" pitchFamily="34" charset="0"/>
                <a:ea typeface="Roboto Medium" pitchFamily="34" charset="-122"/>
                <a:cs typeface="Roboto Medium" pitchFamily="34" charset="-120"/>
              </a:rPr>
              <a:t>(Data Manipulation &amp; EDA)</a:t>
            </a:r>
            <a:endParaRPr lang="en-US" sz="1400" dirty="0"/>
          </a:p>
        </p:txBody>
      </p:sp>
      <p:sp>
        <p:nvSpPr>
          <p:cNvPr id="18" name="Text 8"/>
          <p:cNvSpPr/>
          <p:nvPr/>
        </p:nvSpPr>
        <p:spPr>
          <a:xfrm>
            <a:off x="1375198" y="2636798"/>
            <a:ext cx="1190129" cy="229263"/>
          </a:xfrm>
          <a:prstGeom prst="rect">
            <a:avLst/>
          </a:prstGeom>
          <a:noFill/>
          <a:ln/>
        </p:spPr>
        <p:txBody>
          <a:bodyPr wrap="none" lIns="0" tIns="0" rIns="0" bIns="0" rtlCol="0" anchor="t"/>
          <a:lstStyle/>
          <a:p>
            <a:pPr marL="0" indent="0" algn="ctr">
              <a:lnSpc>
                <a:spcPct val="104000"/>
              </a:lnSpc>
              <a:buNone/>
            </a:pPr>
            <a:r>
              <a:rPr lang="en-US" sz="1400" dirty="0" smtClean="0">
                <a:solidFill>
                  <a:srgbClr val="CFD0D8"/>
                </a:solidFill>
                <a:latin typeface="Roboto Medium" pitchFamily="34" charset="0"/>
                <a:ea typeface="Roboto Medium" pitchFamily="34" charset="-122"/>
                <a:cs typeface="Roboto Medium" pitchFamily="34" charset="-120"/>
              </a:rPr>
              <a:t> SQL Analysis</a:t>
            </a:r>
            <a:endParaRPr lang="en-US" sz="1400" dirty="0"/>
          </a:p>
        </p:txBody>
      </p:sp>
      <p:sp>
        <p:nvSpPr>
          <p:cNvPr id="19" name="Text 8"/>
          <p:cNvSpPr/>
          <p:nvPr/>
        </p:nvSpPr>
        <p:spPr>
          <a:xfrm>
            <a:off x="5767815" y="2100926"/>
            <a:ext cx="1190129" cy="229263"/>
          </a:xfrm>
          <a:prstGeom prst="rect">
            <a:avLst/>
          </a:prstGeom>
          <a:noFill/>
          <a:ln/>
        </p:spPr>
        <p:txBody>
          <a:bodyPr wrap="none" lIns="0" tIns="0" rIns="0" bIns="0" rtlCol="0" anchor="t"/>
          <a:lstStyle/>
          <a:p>
            <a:pPr marL="0" indent="0" algn="ctr">
              <a:lnSpc>
                <a:spcPct val="104000"/>
              </a:lnSpc>
              <a:buNone/>
            </a:pPr>
            <a:r>
              <a:rPr lang="en-US" sz="1400" dirty="0" smtClean="0">
                <a:solidFill>
                  <a:srgbClr val="CFD0D8"/>
                </a:solidFill>
                <a:latin typeface="Roboto Medium" pitchFamily="34" charset="0"/>
                <a:ea typeface="Roboto Medium" pitchFamily="34" charset="-122"/>
                <a:cs typeface="Roboto Medium" pitchFamily="34" charset="-120"/>
              </a:rPr>
              <a:t> Power BI</a:t>
            </a:r>
            <a:endParaRPr lang="en-US" sz="1400" dirty="0"/>
          </a:p>
        </p:txBody>
      </p:sp>
      <p:sp>
        <p:nvSpPr>
          <p:cNvPr id="20" name="Text 8"/>
          <p:cNvSpPr/>
          <p:nvPr/>
        </p:nvSpPr>
        <p:spPr>
          <a:xfrm>
            <a:off x="583097" y="1464309"/>
            <a:ext cx="2399196" cy="492893"/>
          </a:xfrm>
          <a:prstGeom prst="rect">
            <a:avLst/>
          </a:prstGeom>
          <a:noFill/>
          <a:ln/>
        </p:spPr>
        <p:txBody>
          <a:bodyPr wrap="none" lIns="0" tIns="0" rIns="0" bIns="0" rtlCol="0" anchor="t"/>
          <a:lstStyle/>
          <a:p>
            <a:pPr marL="0" indent="0" algn="ctr">
              <a:lnSpc>
                <a:spcPct val="104000"/>
              </a:lnSpc>
              <a:buNone/>
            </a:pPr>
            <a:r>
              <a:rPr lang="en-US" sz="1400" dirty="0" smtClean="0">
                <a:solidFill>
                  <a:srgbClr val="CFD0D8"/>
                </a:solidFill>
                <a:latin typeface="Roboto Medium" pitchFamily="34" charset="0"/>
                <a:ea typeface="Roboto Medium" pitchFamily="34" charset="-122"/>
                <a:cs typeface="Roboto Medium" pitchFamily="34" charset="-120"/>
              </a:rPr>
              <a:t> Business</a:t>
            </a:r>
          </a:p>
          <a:p>
            <a:pPr marL="0" indent="0" algn="ctr">
              <a:lnSpc>
                <a:spcPct val="104000"/>
              </a:lnSpc>
              <a:buNone/>
            </a:pPr>
            <a:r>
              <a:rPr lang="en-US" sz="1400" dirty="0" smtClean="0">
                <a:solidFill>
                  <a:srgbClr val="CFD0D8"/>
                </a:solidFill>
                <a:latin typeface="Roboto Medium" pitchFamily="34" charset="0"/>
                <a:ea typeface="Roboto Medium" pitchFamily="34" charset="-122"/>
                <a:cs typeface="Roboto Medium" pitchFamily="34" charset="-120"/>
              </a:rPr>
              <a:t> Recommendations</a:t>
            </a:r>
            <a:endParaRPr lang="en-US" sz="1400" dirty="0"/>
          </a:p>
        </p:txBody>
      </p:sp>
      <p:sp>
        <p:nvSpPr>
          <p:cNvPr id="21" name="Text 0"/>
          <p:cNvSpPr/>
          <p:nvPr/>
        </p:nvSpPr>
        <p:spPr>
          <a:xfrm>
            <a:off x="350970" y="176464"/>
            <a:ext cx="8151763" cy="193849"/>
          </a:xfrm>
          <a:prstGeom prst="rect">
            <a:avLst/>
          </a:prstGeom>
          <a:noFill/>
          <a:ln/>
        </p:spPr>
        <p:txBody>
          <a:bodyPr wrap="none" lIns="0" tIns="0" rIns="0" bIns="0" rtlCol="0" anchor="t"/>
          <a:lstStyle/>
          <a:p>
            <a:pPr marL="0" indent="0" algn="l">
              <a:lnSpc>
                <a:spcPct val="104000"/>
              </a:lnSpc>
              <a:buNone/>
            </a:pPr>
            <a:r>
              <a:rPr lang="en-US" sz="1200" dirty="0">
                <a:solidFill>
                  <a:srgbClr val="FFFFFF"/>
                </a:solidFill>
                <a:latin typeface="Roboto Medium" pitchFamily="34" charset="0"/>
                <a:ea typeface="Roboto Medium" pitchFamily="34" charset="-122"/>
                <a:cs typeface="Roboto Medium" pitchFamily="34" charset="-120"/>
              </a:rPr>
              <a:t>Methodology</a:t>
            </a:r>
            <a:endParaRPr lang="en-US" sz="1200" dirty="0"/>
          </a:p>
        </p:txBody>
      </p:sp>
      <p:sp>
        <p:nvSpPr>
          <p:cNvPr id="22" name="Text 1"/>
          <p:cNvSpPr/>
          <p:nvPr/>
        </p:nvSpPr>
        <p:spPr>
          <a:xfrm>
            <a:off x="2775493" y="480282"/>
            <a:ext cx="8151763" cy="387548"/>
          </a:xfrm>
          <a:prstGeom prst="rect">
            <a:avLst/>
          </a:prstGeom>
          <a:noFill/>
          <a:ln/>
        </p:spPr>
        <p:txBody>
          <a:bodyPr wrap="none" lIns="0" tIns="0" rIns="0" bIns="0" rtlCol="0" anchor="t"/>
          <a:lstStyle/>
          <a:p>
            <a:pPr marL="0" indent="0" algn="l">
              <a:lnSpc>
                <a:spcPct val="104000"/>
              </a:lnSpc>
              <a:buNone/>
            </a:pPr>
            <a:r>
              <a:rPr lang="en-US" dirty="0">
                <a:solidFill>
                  <a:srgbClr val="FFFFFF"/>
                </a:solidFill>
                <a:latin typeface="Roboto Medium" pitchFamily="34" charset="0"/>
                <a:ea typeface="Roboto Medium" pitchFamily="34" charset="-122"/>
                <a:cs typeface="Roboto Medium" pitchFamily="34" charset="-120"/>
              </a:rPr>
              <a:t>End-to-End Analytics </a:t>
            </a:r>
            <a:r>
              <a:rPr lang="en-US" dirty="0" smtClean="0">
                <a:solidFill>
                  <a:srgbClr val="FFFFFF"/>
                </a:solidFill>
                <a:latin typeface="Roboto Medium" pitchFamily="34" charset="0"/>
                <a:ea typeface="Roboto Medium" pitchFamily="34" charset="-122"/>
                <a:cs typeface="Roboto Medium" pitchFamily="34" charset="-120"/>
              </a:rPr>
              <a:t>Framework</a:t>
            </a:r>
            <a:endParaRPr lang="en-US" dirty="0"/>
          </a:p>
        </p:txBody>
      </p:sp>
      <p:sp>
        <p:nvSpPr>
          <p:cNvPr id="23" name="Rounded Rectangle 22"/>
          <p:cNvSpPr/>
          <p:nvPr/>
        </p:nvSpPr>
        <p:spPr>
          <a:xfrm>
            <a:off x="8052816" y="4870704"/>
            <a:ext cx="1030224" cy="213360"/>
          </a:xfrm>
          <a:prstGeom prst="roundRect">
            <a:avLst/>
          </a:prstGeom>
          <a:solidFill>
            <a:srgbClr val="000019"/>
          </a:solidFill>
          <a:ln>
            <a:solidFill>
              <a:srgbClr val="0000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8" y="470223"/>
            <a:ext cx="8151763" cy="193849"/>
          </a:xfrm>
          <a:prstGeom prst="rect">
            <a:avLst/>
          </a:prstGeom>
          <a:noFill/>
          <a:ln/>
        </p:spPr>
        <p:txBody>
          <a:bodyPr wrap="none" lIns="0" tIns="0" rIns="0" bIns="0" rtlCol="0" anchor="t"/>
          <a:lstStyle/>
          <a:p>
            <a:pPr marL="0" indent="0" algn="l">
              <a:lnSpc>
                <a:spcPct val="104000"/>
              </a:lnSpc>
              <a:buNone/>
            </a:pPr>
            <a:r>
              <a:rPr lang="en-US" sz="1200" dirty="0">
                <a:solidFill>
                  <a:srgbClr val="FFFFFF"/>
                </a:solidFill>
                <a:latin typeface="Roboto Medium" pitchFamily="34" charset="0"/>
                <a:ea typeface="Roboto Medium" pitchFamily="34" charset="-122"/>
                <a:cs typeface="Roboto Medium" pitchFamily="34" charset="-120"/>
              </a:rPr>
              <a:t>Tools &amp; Technologies</a:t>
            </a:r>
            <a:endParaRPr lang="en-US" sz="1200" dirty="0"/>
          </a:p>
        </p:txBody>
      </p:sp>
      <p:sp>
        <p:nvSpPr>
          <p:cNvPr id="3" name="Text 1"/>
          <p:cNvSpPr/>
          <p:nvPr/>
        </p:nvSpPr>
        <p:spPr>
          <a:xfrm>
            <a:off x="496119" y="803056"/>
            <a:ext cx="8151763" cy="387548"/>
          </a:xfrm>
          <a:prstGeom prst="rect">
            <a:avLst/>
          </a:prstGeom>
          <a:noFill/>
          <a:ln/>
        </p:spPr>
        <p:txBody>
          <a:bodyPr wrap="none" lIns="0" tIns="0" rIns="0" bIns="0" rtlCol="0" anchor="t"/>
          <a:lstStyle/>
          <a:p>
            <a:pPr marL="0" indent="0" algn="l">
              <a:lnSpc>
                <a:spcPct val="104000"/>
              </a:lnSpc>
              <a:buNone/>
            </a:pPr>
            <a:r>
              <a:rPr lang="en-US" sz="2400" dirty="0">
                <a:solidFill>
                  <a:srgbClr val="FFFFFF"/>
                </a:solidFill>
                <a:latin typeface="Roboto Medium" pitchFamily="34" charset="0"/>
                <a:ea typeface="Roboto Medium" pitchFamily="34" charset="-122"/>
                <a:cs typeface="Roboto Medium" pitchFamily="34" charset="-120"/>
              </a:rPr>
              <a:t>The Analytics Stack</a:t>
            </a:r>
            <a:endParaRPr lang="en-US" sz="240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496119" y="1490290"/>
            <a:ext cx="248022" cy="248022"/>
          </a:xfrm>
          <a:prstGeom prst="rect">
            <a:avLst/>
          </a:prstGeom>
        </p:spPr>
      </p:pic>
      <p:sp>
        <p:nvSpPr>
          <p:cNvPr id="5" name="Text 2"/>
          <p:cNvSpPr/>
          <p:nvPr/>
        </p:nvSpPr>
        <p:spPr>
          <a:xfrm>
            <a:off x="496119" y="1893317"/>
            <a:ext cx="3998342" cy="193849"/>
          </a:xfrm>
          <a:prstGeom prst="rect">
            <a:avLst/>
          </a:prstGeom>
          <a:noFill/>
          <a:ln/>
        </p:spPr>
        <p:txBody>
          <a:bodyPr wrap="none" lIns="0" tIns="0" rIns="0" bIns="0" rtlCol="0" anchor="t"/>
          <a:lstStyle/>
          <a:p>
            <a:pPr marL="0" indent="0" algn="l">
              <a:lnSpc>
                <a:spcPct val="104000"/>
              </a:lnSpc>
              <a:buNone/>
            </a:pPr>
            <a:r>
              <a:rPr lang="en-US" sz="1200" dirty="0">
                <a:solidFill>
                  <a:srgbClr val="CFD0D8"/>
                </a:solidFill>
                <a:latin typeface="Roboto Medium" pitchFamily="34" charset="0"/>
                <a:ea typeface="Roboto Medium" pitchFamily="34" charset="-122"/>
                <a:cs typeface="Roboto Medium" pitchFamily="34" charset="-120"/>
              </a:rPr>
              <a:t>Python — Pandas, NumPy </a:t>
            </a:r>
            <a:endParaRPr lang="en-US" sz="1200" dirty="0"/>
          </a:p>
        </p:txBody>
      </p:sp>
      <p:sp>
        <p:nvSpPr>
          <p:cNvPr id="6" name="Text 3"/>
          <p:cNvSpPr/>
          <p:nvPr/>
        </p:nvSpPr>
        <p:spPr>
          <a:xfrm>
            <a:off x="496119" y="2161580"/>
            <a:ext cx="3998342" cy="793849"/>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CFD0D8"/>
                </a:solidFill>
                <a:latin typeface="Roboto" pitchFamily="34" charset="0"/>
                <a:ea typeface="Roboto" pitchFamily="34" charset="-122"/>
                <a:cs typeface="Roboto" pitchFamily="34" charset="-120"/>
              </a:rPr>
              <a:t>Used for data ingestion, cleaning, transformation, and feature engineering. Pandas handled dataframe manipulation while NumPy supported numerical computations and statistical analysis during the EDA phase.</a:t>
            </a:r>
            <a:endParaRPr lang="en-US" sz="950" dirty="0"/>
          </a:p>
        </p:txBody>
      </p:sp>
      <p:pic>
        <p:nvPicPr>
          <p:cNvPr id="7" name="Image 1" descr="preencoded.png"/>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4649465" y="1490290"/>
            <a:ext cx="248022" cy="248022"/>
          </a:xfrm>
          <a:prstGeom prst="rect">
            <a:avLst/>
          </a:prstGeom>
        </p:spPr>
      </p:pic>
      <p:sp>
        <p:nvSpPr>
          <p:cNvPr id="8" name="Text 4"/>
          <p:cNvSpPr/>
          <p:nvPr/>
        </p:nvSpPr>
        <p:spPr>
          <a:xfrm>
            <a:off x="4649465" y="1893317"/>
            <a:ext cx="3998416" cy="193849"/>
          </a:xfrm>
          <a:prstGeom prst="rect">
            <a:avLst/>
          </a:prstGeom>
          <a:noFill/>
          <a:ln/>
        </p:spPr>
        <p:txBody>
          <a:bodyPr wrap="none" lIns="0" tIns="0" rIns="0" bIns="0" rtlCol="0" anchor="t"/>
          <a:lstStyle/>
          <a:p>
            <a:pPr marL="0" indent="0" algn="l">
              <a:lnSpc>
                <a:spcPct val="104000"/>
              </a:lnSpc>
              <a:buNone/>
            </a:pPr>
            <a:r>
              <a:rPr lang="en-US" sz="1200" dirty="0">
                <a:solidFill>
                  <a:srgbClr val="CFD0D8"/>
                </a:solidFill>
                <a:latin typeface="Roboto Medium" pitchFamily="34" charset="0"/>
                <a:ea typeface="Roboto Medium" pitchFamily="34" charset="-122"/>
                <a:cs typeface="Roboto Medium" pitchFamily="34" charset="-120"/>
              </a:rPr>
              <a:t>MySQL — Business Queries</a:t>
            </a:r>
            <a:endParaRPr lang="en-US" sz="1200" dirty="0"/>
          </a:p>
        </p:txBody>
      </p:sp>
      <p:sp>
        <p:nvSpPr>
          <p:cNvPr id="9" name="Text 5"/>
          <p:cNvSpPr/>
          <p:nvPr/>
        </p:nvSpPr>
        <p:spPr>
          <a:xfrm>
            <a:off x="4649465" y="2161580"/>
            <a:ext cx="3998416"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CFD0D8"/>
                </a:solidFill>
                <a:latin typeface="Roboto" pitchFamily="34" charset="0"/>
                <a:ea typeface="Roboto" pitchFamily="34" charset="-122"/>
                <a:cs typeface="Roboto" pitchFamily="34" charset="-120"/>
              </a:rPr>
              <a:t>Served as the analytical engine for executing complex business queries, aggregations, joins across the five tables, and performance analysis — translating raw data into structured business answers.</a:t>
            </a:r>
            <a:endParaRPr lang="en-US" sz="950" dirty="0"/>
          </a:p>
        </p:txBody>
      </p:sp>
      <p:pic>
        <p:nvPicPr>
          <p:cNvPr id="10" name="Image 2" descr="preencoded.png"/>
          <p:cNvPicPr>
            <a:picLocks noChangeAspect="1"/>
          </p:cNvPicPr>
          <p:nvPr/>
        </p:nvPicPr>
        <p:blipFill>
          <a:blip r:embed="rId7">
            <a:extLst>
              <a:ext uri="{96DAC541-7B7A-43D3-8B79-37D633B846F1}">
                <asvg:svgBlip xmlns:asvg="http://schemas.microsoft.com/office/drawing/2016/SVG/main" xmlns="" r:embed="rId8"/>
              </a:ext>
            </a:extLst>
          </a:blip>
          <a:stretch>
            <a:fillRect/>
          </a:stretch>
        </p:blipFill>
        <p:spPr>
          <a:xfrm>
            <a:off x="496119" y="3203451"/>
            <a:ext cx="248022" cy="248022"/>
          </a:xfrm>
          <a:prstGeom prst="rect">
            <a:avLst/>
          </a:prstGeom>
        </p:spPr>
      </p:pic>
      <p:sp>
        <p:nvSpPr>
          <p:cNvPr id="11" name="Text 6"/>
          <p:cNvSpPr/>
          <p:nvPr/>
        </p:nvSpPr>
        <p:spPr>
          <a:xfrm>
            <a:off x="496119" y="3606478"/>
            <a:ext cx="3998342" cy="193849"/>
          </a:xfrm>
          <a:prstGeom prst="rect">
            <a:avLst/>
          </a:prstGeom>
          <a:noFill/>
          <a:ln/>
        </p:spPr>
        <p:txBody>
          <a:bodyPr wrap="none" lIns="0" tIns="0" rIns="0" bIns="0" rtlCol="0" anchor="t"/>
          <a:lstStyle/>
          <a:p>
            <a:pPr marL="0" indent="0" algn="l">
              <a:lnSpc>
                <a:spcPct val="104000"/>
              </a:lnSpc>
              <a:buNone/>
            </a:pPr>
            <a:r>
              <a:rPr lang="en-US" sz="1200" dirty="0">
                <a:solidFill>
                  <a:srgbClr val="CFD0D8"/>
                </a:solidFill>
                <a:latin typeface="Roboto Medium" pitchFamily="34" charset="0"/>
                <a:ea typeface="Roboto Medium" pitchFamily="34" charset="-122"/>
                <a:cs typeface="Roboto Medium" pitchFamily="34" charset="-120"/>
              </a:rPr>
              <a:t>Power BI — Dashboards &amp; KPIs</a:t>
            </a:r>
            <a:endParaRPr lang="en-US" sz="1200" dirty="0"/>
          </a:p>
        </p:txBody>
      </p:sp>
      <p:sp>
        <p:nvSpPr>
          <p:cNvPr id="12" name="Text 7"/>
          <p:cNvSpPr/>
          <p:nvPr/>
        </p:nvSpPr>
        <p:spPr>
          <a:xfrm>
            <a:off x="496119" y="3874740"/>
            <a:ext cx="3998342"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CFD0D8"/>
                </a:solidFill>
                <a:latin typeface="Roboto" pitchFamily="34" charset="0"/>
                <a:ea typeface="Roboto" pitchFamily="34" charset="-122"/>
                <a:cs typeface="Roboto" pitchFamily="34" charset="-120"/>
              </a:rPr>
              <a:t>Delivered the final layer of interactivity through dynamic dashboards, KPI reporting, and visual storytelling — making insights accessible and actionable for business stakeholders and executives.</a:t>
            </a:r>
            <a:endParaRPr lang="en-US" sz="950" dirty="0"/>
          </a:p>
        </p:txBody>
      </p:sp>
      <p:sp>
        <p:nvSpPr>
          <p:cNvPr id="16" name="Rounded Rectangle 15"/>
          <p:cNvSpPr/>
          <p:nvPr/>
        </p:nvSpPr>
        <p:spPr>
          <a:xfrm>
            <a:off x="8052816" y="4870704"/>
            <a:ext cx="1030224" cy="213360"/>
          </a:xfrm>
          <a:prstGeom prst="roundRect">
            <a:avLst/>
          </a:prstGeom>
          <a:solidFill>
            <a:srgbClr val="000019"/>
          </a:solidFill>
          <a:ln>
            <a:solidFill>
              <a:srgbClr val="0000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96119" y="311335"/>
            <a:ext cx="8151763" cy="193849"/>
          </a:xfrm>
          <a:prstGeom prst="rect">
            <a:avLst/>
          </a:prstGeom>
          <a:noFill/>
          <a:ln/>
        </p:spPr>
        <p:txBody>
          <a:bodyPr wrap="none" lIns="0" tIns="0" rIns="0" bIns="0" rtlCol="0" anchor="t"/>
          <a:lstStyle/>
          <a:p>
            <a:pPr marL="0" indent="0" algn="l">
              <a:lnSpc>
                <a:spcPct val="104000"/>
              </a:lnSpc>
              <a:buNone/>
            </a:pPr>
            <a:r>
              <a:rPr lang="en-US" sz="1200" dirty="0">
                <a:solidFill>
                  <a:srgbClr val="FFFFFF"/>
                </a:solidFill>
                <a:latin typeface="Roboto Medium" pitchFamily="34" charset="0"/>
                <a:ea typeface="Roboto Medium" pitchFamily="34" charset="-122"/>
                <a:cs typeface="Roboto Medium" pitchFamily="34" charset="-120"/>
              </a:rPr>
              <a:t>SQL Analysis</a:t>
            </a:r>
            <a:endParaRPr lang="en-US" sz="1200" dirty="0"/>
          </a:p>
        </p:txBody>
      </p:sp>
      <p:sp>
        <p:nvSpPr>
          <p:cNvPr id="3" name="Text 1"/>
          <p:cNvSpPr/>
          <p:nvPr/>
        </p:nvSpPr>
        <p:spPr>
          <a:xfrm>
            <a:off x="496118" y="578245"/>
            <a:ext cx="8151763" cy="387548"/>
          </a:xfrm>
          <a:prstGeom prst="rect">
            <a:avLst/>
          </a:prstGeom>
          <a:noFill/>
          <a:ln/>
        </p:spPr>
        <p:txBody>
          <a:bodyPr wrap="none" lIns="0" tIns="0" rIns="0" bIns="0" rtlCol="0" anchor="t"/>
          <a:lstStyle/>
          <a:p>
            <a:pPr marL="0" indent="0" algn="l">
              <a:lnSpc>
                <a:spcPct val="104000"/>
              </a:lnSpc>
              <a:buNone/>
            </a:pPr>
            <a:r>
              <a:rPr lang="en-US" sz="2000" dirty="0">
                <a:solidFill>
                  <a:srgbClr val="FFFFFF"/>
                </a:solidFill>
                <a:latin typeface="Roboto Medium" pitchFamily="34" charset="0"/>
                <a:ea typeface="Roboto Medium" pitchFamily="34" charset="-122"/>
                <a:cs typeface="Roboto Medium" pitchFamily="34" charset="-120"/>
              </a:rPr>
              <a:t>From SELECT * to Business Insights</a:t>
            </a:r>
            <a:endParaRPr lang="en-US" sz="2000" dirty="0"/>
          </a:p>
        </p:txBody>
      </p:sp>
      <p:sp>
        <p:nvSpPr>
          <p:cNvPr id="4" name="Text 2"/>
          <p:cNvSpPr/>
          <p:nvPr/>
        </p:nvSpPr>
        <p:spPr>
          <a:xfrm>
            <a:off x="496119" y="1360066"/>
            <a:ext cx="8151763" cy="3240360"/>
          </a:xfrm>
          <a:prstGeom prst="rect">
            <a:avLst/>
          </a:prstGeom>
          <a:noFill/>
          <a:ln/>
        </p:spPr>
        <p:txBody>
          <a:bodyPr wrap="square" lIns="0" tIns="0" rIns="0" bIns="0" rtlCol="0" anchor="t"/>
          <a:lstStyle/>
          <a:p>
            <a:pPr marL="0" indent="0" algn="l">
              <a:lnSpc>
                <a:spcPct val="133000"/>
              </a:lnSpc>
              <a:spcAft>
                <a:spcPts val="1050"/>
              </a:spcAft>
              <a:buNone/>
            </a:pPr>
            <a:endParaRPr lang="en-US" sz="950" dirty="0"/>
          </a:p>
          <a:p>
            <a:pPr marL="0" indent="0" algn="l">
              <a:lnSpc>
                <a:spcPct val="133000"/>
              </a:lnSpc>
              <a:spcAft>
                <a:spcPts val="1050"/>
              </a:spcAft>
              <a:buNone/>
            </a:pPr>
            <a:endParaRPr lang="en-US" sz="950" dirty="0"/>
          </a:p>
          <a:p>
            <a:pPr marL="0" indent="0" algn="l">
              <a:lnSpc>
                <a:spcPct val="133000"/>
              </a:lnSpc>
              <a:spcAft>
                <a:spcPts val="1050"/>
              </a:spcAft>
              <a:buNone/>
            </a:pPr>
            <a:endParaRPr lang="en-US" sz="950" dirty="0"/>
          </a:p>
          <a:p>
            <a:pPr marL="0" indent="0" algn="l">
              <a:lnSpc>
                <a:spcPct val="133000"/>
              </a:lnSpc>
              <a:spcAft>
                <a:spcPts val="1050"/>
              </a:spcAft>
              <a:buNone/>
            </a:pPr>
            <a:endParaRPr lang="en-US" sz="950" dirty="0"/>
          </a:p>
          <a:p>
            <a:pPr marL="0" indent="0" algn="l">
              <a:lnSpc>
                <a:spcPct val="133000"/>
              </a:lnSpc>
              <a:spcAft>
                <a:spcPts val="1050"/>
              </a:spcAft>
              <a:buNone/>
            </a:pPr>
            <a:endParaRPr lang="en-US" sz="950" dirty="0"/>
          </a:p>
          <a:p>
            <a:pPr marL="0" indent="0" algn="l">
              <a:lnSpc>
                <a:spcPct val="133000"/>
              </a:lnSpc>
              <a:spcAft>
                <a:spcPts val="1050"/>
              </a:spcAft>
              <a:buNone/>
            </a:pPr>
            <a:endParaRPr lang="en-US" sz="950" dirty="0"/>
          </a:p>
          <a:p>
            <a:pPr marL="0" indent="0" algn="l">
              <a:lnSpc>
                <a:spcPct val="133000"/>
              </a:lnSpc>
              <a:spcAft>
                <a:spcPts val="1050"/>
              </a:spcAft>
              <a:buNone/>
            </a:pPr>
            <a:endParaRPr lang="en-US" sz="950" dirty="0"/>
          </a:p>
          <a:p>
            <a:pPr marL="0" indent="0" algn="l">
              <a:lnSpc>
                <a:spcPct val="133000"/>
              </a:lnSpc>
              <a:spcAft>
                <a:spcPts val="1050"/>
              </a:spcAft>
              <a:buNone/>
            </a:pPr>
            <a:endParaRPr lang="en-US" sz="950" dirty="0"/>
          </a:p>
          <a:p>
            <a:pPr marL="0" indent="0" algn="l">
              <a:lnSpc>
                <a:spcPct val="133000"/>
              </a:lnSpc>
              <a:spcAft>
                <a:spcPts val="1050"/>
              </a:spcAft>
              <a:buNone/>
            </a:pPr>
            <a:endParaRPr lang="en-US" sz="950" dirty="0"/>
          </a:p>
        </p:txBody>
      </p:sp>
      <p:sp>
        <p:nvSpPr>
          <p:cNvPr id="5" name="Text 7"/>
          <p:cNvSpPr/>
          <p:nvPr/>
        </p:nvSpPr>
        <p:spPr>
          <a:xfrm>
            <a:off x="546461" y="2241895"/>
            <a:ext cx="4305077" cy="167134"/>
          </a:xfrm>
          <a:prstGeom prst="rect">
            <a:avLst/>
          </a:prstGeom>
          <a:noFill/>
          <a:ln/>
        </p:spPr>
        <p:txBody>
          <a:bodyPr wrap="none" lIns="0" tIns="0" rIns="0" bIns="0" rtlCol="0" anchor="t"/>
          <a:lstStyle/>
          <a:p>
            <a:pPr marL="0" indent="0" algn="l">
              <a:lnSpc>
                <a:spcPct val="126000"/>
              </a:lnSpc>
              <a:buNone/>
            </a:pPr>
            <a:r>
              <a:rPr lang="en-US" sz="850" dirty="0">
                <a:solidFill>
                  <a:srgbClr val="CFD0D8"/>
                </a:solidFill>
                <a:latin typeface="Roboto" pitchFamily="34" charset="0"/>
                <a:ea typeface="Roboto" pitchFamily="34" charset="-122"/>
                <a:cs typeface="Roboto" pitchFamily="34" charset="-120"/>
              </a:rPr>
              <a:t>Which products should receive increased marketing investment?</a:t>
            </a:r>
            <a:endParaRPr lang="en-US" sz="850" dirty="0"/>
          </a:p>
        </p:txBody>
      </p:sp>
      <p:sp>
        <p:nvSpPr>
          <p:cNvPr id="6" name="Text 8"/>
          <p:cNvSpPr/>
          <p:nvPr/>
        </p:nvSpPr>
        <p:spPr>
          <a:xfrm>
            <a:off x="4684812" y="2242819"/>
            <a:ext cx="4305077" cy="167134"/>
          </a:xfrm>
          <a:prstGeom prst="rect">
            <a:avLst/>
          </a:prstGeom>
          <a:noFill/>
          <a:ln/>
        </p:spPr>
        <p:txBody>
          <a:bodyPr wrap="none" lIns="0" tIns="0" rIns="0" bIns="0" rtlCol="0" anchor="t"/>
          <a:lstStyle/>
          <a:p>
            <a:pPr marL="0" indent="0" algn="l">
              <a:lnSpc>
                <a:spcPct val="126000"/>
              </a:lnSpc>
              <a:buNone/>
            </a:pPr>
            <a:r>
              <a:rPr lang="en-US" sz="850" dirty="0">
                <a:solidFill>
                  <a:srgbClr val="CFD0D8"/>
                </a:solidFill>
                <a:latin typeface="Roboto" pitchFamily="34" charset="0"/>
                <a:ea typeface="Roboto" pitchFamily="34" charset="-122"/>
                <a:cs typeface="Roboto" pitchFamily="34" charset="-120"/>
              </a:rPr>
              <a:t>Which product categories generate strong sales with minimal discounts?</a:t>
            </a:r>
            <a:endParaRPr lang="en-US" sz="850" dirty="0"/>
          </a:p>
        </p:txBody>
      </p:sp>
      <p:sp>
        <p:nvSpPr>
          <p:cNvPr id="8" name="Text 14"/>
          <p:cNvSpPr/>
          <p:nvPr/>
        </p:nvSpPr>
        <p:spPr>
          <a:xfrm>
            <a:off x="4712535" y="3556748"/>
            <a:ext cx="4305077" cy="167134"/>
          </a:xfrm>
          <a:prstGeom prst="rect">
            <a:avLst/>
          </a:prstGeom>
          <a:noFill/>
          <a:ln/>
        </p:spPr>
        <p:txBody>
          <a:bodyPr wrap="none" lIns="0" tIns="0" rIns="0" bIns="0" rtlCol="0" anchor="t"/>
          <a:lstStyle/>
          <a:p>
            <a:pPr marL="0" indent="0" algn="l">
              <a:lnSpc>
                <a:spcPct val="126000"/>
              </a:lnSpc>
              <a:buNone/>
            </a:pPr>
            <a:r>
              <a:rPr lang="en-US" sz="850" dirty="0">
                <a:solidFill>
                  <a:srgbClr val="CFD0D8"/>
                </a:solidFill>
                <a:latin typeface="Roboto" pitchFamily="34" charset="0"/>
                <a:ea typeface="Roboto" pitchFamily="34" charset="-122"/>
                <a:cs typeface="Roboto" pitchFamily="34" charset="-120"/>
              </a:rPr>
              <a:t>Which vehicle category should Mercedes focus on based on profitability?</a:t>
            </a:r>
            <a:endParaRPr lang="en-US" sz="850" dirty="0"/>
          </a:p>
        </p:txBody>
      </p:sp>
      <p:sp>
        <p:nvSpPr>
          <p:cNvPr id="9" name="Text 25"/>
          <p:cNvSpPr/>
          <p:nvPr/>
        </p:nvSpPr>
        <p:spPr>
          <a:xfrm>
            <a:off x="4712536" y="4828080"/>
            <a:ext cx="4305077" cy="167134"/>
          </a:xfrm>
          <a:prstGeom prst="rect">
            <a:avLst/>
          </a:prstGeom>
          <a:noFill/>
          <a:ln/>
        </p:spPr>
        <p:txBody>
          <a:bodyPr wrap="none" lIns="0" tIns="0" rIns="0" bIns="0" rtlCol="0" anchor="t"/>
          <a:lstStyle/>
          <a:p>
            <a:pPr marL="0" indent="0" algn="l">
              <a:lnSpc>
                <a:spcPct val="126000"/>
              </a:lnSpc>
              <a:buNone/>
            </a:pPr>
            <a:r>
              <a:rPr lang="en-US" sz="850" dirty="0">
                <a:solidFill>
                  <a:srgbClr val="CFD0D8"/>
                </a:solidFill>
                <a:latin typeface="Roboto" pitchFamily="34" charset="0"/>
                <a:ea typeface="Roboto" pitchFamily="34" charset="-122"/>
                <a:cs typeface="Roboto" pitchFamily="34" charset="-120"/>
              </a:rPr>
              <a:t>Mercedes model wise total revenue generated from highest to low</a:t>
            </a:r>
            <a:endParaRPr lang="en-US" sz="850" dirty="0"/>
          </a:p>
        </p:txBody>
      </p:sp>
      <p:sp>
        <p:nvSpPr>
          <p:cNvPr id="13" name="Text 37"/>
          <p:cNvSpPr/>
          <p:nvPr/>
        </p:nvSpPr>
        <p:spPr>
          <a:xfrm>
            <a:off x="546461" y="4227974"/>
            <a:ext cx="4305077" cy="715420"/>
          </a:xfrm>
          <a:prstGeom prst="rect">
            <a:avLst/>
          </a:prstGeom>
          <a:noFill/>
          <a:ln/>
        </p:spPr>
        <p:txBody>
          <a:bodyPr wrap="none" lIns="0" tIns="0" rIns="0" bIns="0" rtlCol="0" anchor="t"/>
          <a:lstStyle/>
          <a:p>
            <a:pPr>
              <a:lnSpc>
                <a:spcPct val="126000"/>
              </a:lnSpc>
            </a:pPr>
            <a:r>
              <a:rPr lang="en-US" sz="850" dirty="0" smtClean="0">
                <a:solidFill>
                  <a:srgbClr val="CFD0D8"/>
                </a:solidFill>
                <a:latin typeface="Roboto" pitchFamily="34" charset="0"/>
                <a:ea typeface="Roboto" pitchFamily="34" charset="-122"/>
                <a:cs typeface="Roboto" pitchFamily="34" charset="-120"/>
              </a:rPr>
              <a:t>Which </a:t>
            </a:r>
            <a:r>
              <a:rPr lang="en-US" sz="850" dirty="0">
                <a:solidFill>
                  <a:srgbClr val="CFD0D8"/>
                </a:solidFill>
                <a:latin typeface="Roboto" pitchFamily="34" charset="0"/>
                <a:ea typeface="Roboto" pitchFamily="34" charset="-122"/>
                <a:cs typeface="Roboto" pitchFamily="34" charset="-120"/>
              </a:rPr>
              <a:t>countries represent the </a:t>
            </a:r>
            <a:r>
              <a:rPr lang="en-US" sz="850" dirty="0" smtClean="0">
                <a:solidFill>
                  <a:srgbClr val="CFD0D8"/>
                </a:solidFill>
                <a:latin typeface="Roboto" pitchFamily="34" charset="0"/>
                <a:ea typeface="Roboto" pitchFamily="34" charset="-122"/>
                <a:cs typeface="Roboto" pitchFamily="34" charset="-120"/>
              </a:rPr>
              <a:t>greatest</a:t>
            </a:r>
          </a:p>
          <a:p>
            <a:pPr>
              <a:lnSpc>
                <a:spcPct val="126000"/>
              </a:lnSpc>
            </a:pPr>
            <a:r>
              <a:rPr lang="en-US" sz="850" dirty="0" smtClean="0">
                <a:solidFill>
                  <a:srgbClr val="CFD0D8"/>
                </a:solidFill>
                <a:latin typeface="Roboto" pitchFamily="34" charset="0"/>
                <a:ea typeface="Roboto" pitchFamily="34" charset="-122"/>
                <a:cs typeface="Roboto" pitchFamily="34" charset="-120"/>
              </a:rPr>
              <a:t>market </a:t>
            </a:r>
            <a:r>
              <a:rPr lang="en-US" sz="850" dirty="0">
                <a:solidFill>
                  <a:srgbClr val="CFD0D8"/>
                </a:solidFill>
                <a:latin typeface="Roboto" pitchFamily="34" charset="0"/>
                <a:ea typeface="Roboto" pitchFamily="34" charset="-122"/>
                <a:cs typeface="Roboto" pitchFamily="34" charset="-120"/>
              </a:rPr>
              <a:t>expansion </a:t>
            </a:r>
            <a:r>
              <a:rPr lang="en-US" sz="850" dirty="0" smtClean="0">
                <a:solidFill>
                  <a:srgbClr val="CFD0D8"/>
                </a:solidFill>
                <a:latin typeface="Roboto" pitchFamily="34" charset="0"/>
                <a:ea typeface="Roboto" pitchFamily="34" charset="-122"/>
                <a:cs typeface="Roboto" pitchFamily="34" charset="-120"/>
              </a:rPr>
              <a:t>opportunity- (that </a:t>
            </a:r>
            <a:r>
              <a:rPr lang="en-US" sz="850" dirty="0">
                <a:solidFill>
                  <a:srgbClr val="CFD0D8"/>
                </a:solidFill>
                <a:latin typeface="Roboto" pitchFamily="34" charset="0"/>
                <a:ea typeface="Roboto" pitchFamily="34" charset="-122"/>
                <a:cs typeface="Roboto" pitchFamily="34" charset="-120"/>
              </a:rPr>
              <a:t>have</a:t>
            </a:r>
            <a:r>
              <a:rPr lang="en-US" sz="850" dirty="0" smtClean="0">
                <a:solidFill>
                  <a:srgbClr val="CFD0D8"/>
                </a:solidFill>
                <a:latin typeface="Roboto" pitchFamily="34" charset="0"/>
                <a:ea typeface="Roboto" pitchFamily="34" charset="-122"/>
                <a:cs typeface="Roboto" pitchFamily="34" charset="-120"/>
              </a:rPr>
              <a:t>: </a:t>
            </a:r>
            <a:r>
              <a:rPr lang="en-US" sz="850" dirty="0">
                <a:solidFill>
                  <a:srgbClr val="CFD0D8"/>
                </a:solidFill>
                <a:latin typeface="Roboto" pitchFamily="34" charset="0"/>
                <a:ea typeface="Roboto" pitchFamily="34" charset="-122"/>
                <a:cs typeface="Roboto" pitchFamily="34" charset="-120"/>
              </a:rPr>
              <a:t>Low total </a:t>
            </a:r>
            <a:r>
              <a:rPr lang="en-US" sz="850" dirty="0" smtClean="0">
                <a:solidFill>
                  <a:srgbClr val="CFD0D8"/>
                </a:solidFill>
                <a:latin typeface="Roboto" pitchFamily="34" charset="0"/>
                <a:ea typeface="Roboto" pitchFamily="34" charset="-122"/>
                <a:cs typeface="Roboto" pitchFamily="34" charset="-120"/>
              </a:rPr>
              <a:t>sales, </a:t>
            </a:r>
            <a:r>
              <a:rPr lang="en-US" sz="850" dirty="0">
                <a:solidFill>
                  <a:srgbClr val="CFD0D8"/>
                </a:solidFill>
                <a:latin typeface="Roboto" pitchFamily="34" charset="0"/>
                <a:ea typeface="Roboto" pitchFamily="34" charset="-122"/>
                <a:cs typeface="Roboto" pitchFamily="34" charset="-120"/>
              </a:rPr>
              <a:t>Low number of </a:t>
            </a:r>
            <a:endParaRPr lang="en-US" sz="850" dirty="0" smtClean="0">
              <a:solidFill>
                <a:srgbClr val="CFD0D8"/>
              </a:solidFill>
              <a:latin typeface="Roboto" pitchFamily="34" charset="0"/>
              <a:ea typeface="Roboto" pitchFamily="34" charset="-122"/>
              <a:cs typeface="Roboto" pitchFamily="34" charset="-120"/>
            </a:endParaRPr>
          </a:p>
          <a:p>
            <a:pPr>
              <a:lnSpc>
                <a:spcPct val="126000"/>
              </a:lnSpc>
            </a:pPr>
            <a:r>
              <a:rPr lang="en-US" sz="850" dirty="0" smtClean="0">
                <a:solidFill>
                  <a:srgbClr val="CFD0D8"/>
                </a:solidFill>
                <a:latin typeface="Roboto" pitchFamily="34" charset="0"/>
                <a:ea typeface="Roboto" pitchFamily="34" charset="-122"/>
                <a:cs typeface="Roboto" pitchFamily="34" charset="-120"/>
              </a:rPr>
              <a:t>purchases but</a:t>
            </a:r>
          </a:p>
          <a:p>
            <a:pPr>
              <a:lnSpc>
                <a:spcPct val="126000"/>
              </a:lnSpc>
            </a:pPr>
            <a:r>
              <a:rPr lang="en-US" sz="850" dirty="0" smtClean="0">
                <a:solidFill>
                  <a:srgbClr val="CFD0D8"/>
                </a:solidFill>
                <a:latin typeface="Roboto" pitchFamily="34" charset="0"/>
                <a:ea typeface="Roboto" pitchFamily="34" charset="-122"/>
                <a:cs typeface="Roboto" pitchFamily="34" charset="-120"/>
              </a:rPr>
              <a:t>High </a:t>
            </a:r>
            <a:r>
              <a:rPr lang="en-US" sz="850" dirty="0">
                <a:solidFill>
                  <a:srgbClr val="CFD0D8"/>
                </a:solidFill>
                <a:latin typeface="Roboto" pitchFamily="34" charset="0"/>
                <a:ea typeface="Roboto" pitchFamily="34" charset="-122"/>
                <a:cs typeface="Roboto" pitchFamily="34" charset="-120"/>
              </a:rPr>
              <a:t>average sales per order)?</a:t>
            </a:r>
            <a:endParaRPr lang="en-US" sz="850" dirty="0"/>
          </a:p>
        </p:txBody>
      </p:sp>
      <p:pic>
        <p:nvPicPr>
          <p:cNvPr id="14" name="Picture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6461" y="1636571"/>
            <a:ext cx="1347190" cy="341824"/>
          </a:xfrm>
          <a:prstGeom prst="rect">
            <a:avLst/>
          </a:prstGeom>
        </p:spPr>
      </p:pic>
      <p:pic>
        <p:nvPicPr>
          <p:cNvPr id="15" name="Picture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84812" y="1225523"/>
            <a:ext cx="1230702" cy="755324"/>
          </a:xfrm>
          <a:prstGeom prst="rect">
            <a:avLst/>
          </a:prstGeom>
        </p:spPr>
      </p:pic>
      <p:pic>
        <p:nvPicPr>
          <p:cNvPr id="18" name="Picture 1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12535" y="2671788"/>
            <a:ext cx="1202979" cy="809698"/>
          </a:xfrm>
          <a:prstGeom prst="rect">
            <a:avLst/>
          </a:prstGeom>
        </p:spPr>
      </p:pic>
      <p:pic>
        <p:nvPicPr>
          <p:cNvPr id="19" name="Picture 1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12536" y="3985578"/>
            <a:ext cx="1254727" cy="711866"/>
          </a:xfrm>
          <a:prstGeom prst="rect">
            <a:avLst/>
          </a:prstGeom>
        </p:spPr>
      </p:pic>
      <p:pic>
        <p:nvPicPr>
          <p:cNvPr id="23" name="Picture 22"/>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46461" y="3350910"/>
            <a:ext cx="2153066" cy="745944"/>
          </a:xfrm>
          <a:prstGeom prst="rect">
            <a:avLst/>
          </a:prstGeom>
        </p:spPr>
      </p:pic>
      <p:sp>
        <p:nvSpPr>
          <p:cNvPr id="24" name="Rounded Rectangle 23"/>
          <p:cNvSpPr/>
          <p:nvPr/>
        </p:nvSpPr>
        <p:spPr>
          <a:xfrm>
            <a:off x="8052816" y="4870704"/>
            <a:ext cx="1030224" cy="213360"/>
          </a:xfrm>
          <a:prstGeom prst="roundRect">
            <a:avLst/>
          </a:prstGeom>
          <a:solidFill>
            <a:srgbClr val="000019"/>
          </a:solidFill>
          <a:ln>
            <a:solidFill>
              <a:srgbClr val="0000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4" name="Text 2"/>
          <p:cNvSpPr/>
          <p:nvPr/>
        </p:nvSpPr>
        <p:spPr>
          <a:xfrm>
            <a:off x="496119" y="1191071"/>
            <a:ext cx="8151763" cy="3578349"/>
          </a:xfrm>
          <a:prstGeom prst="rect">
            <a:avLst/>
          </a:prstGeom>
          <a:noFill/>
          <a:ln/>
        </p:spPr>
        <p:txBody>
          <a:bodyPr wrap="square" lIns="0" tIns="0" rIns="0" bIns="0" rtlCol="0" anchor="t"/>
          <a:lstStyle/>
          <a:p>
            <a:pPr marL="0" indent="0" algn="l">
              <a:lnSpc>
                <a:spcPct val="133000"/>
              </a:lnSpc>
              <a:spcAft>
                <a:spcPts val="1050"/>
              </a:spcAft>
              <a:buNone/>
            </a:pPr>
            <a:endParaRPr lang="en-US" sz="950" dirty="0"/>
          </a:p>
          <a:p>
            <a:pPr marL="0" indent="0" algn="l">
              <a:lnSpc>
                <a:spcPct val="133000"/>
              </a:lnSpc>
              <a:spcAft>
                <a:spcPts val="1050"/>
              </a:spcAft>
              <a:buNone/>
            </a:pPr>
            <a:endParaRPr lang="en-US" sz="950" dirty="0"/>
          </a:p>
          <a:p>
            <a:pPr marL="0" indent="0" algn="l">
              <a:lnSpc>
                <a:spcPct val="133000"/>
              </a:lnSpc>
              <a:spcAft>
                <a:spcPts val="1050"/>
              </a:spcAft>
              <a:buNone/>
            </a:pPr>
            <a:endParaRPr lang="en-US" sz="950" dirty="0"/>
          </a:p>
          <a:p>
            <a:pPr marL="0" indent="0" algn="l">
              <a:lnSpc>
                <a:spcPct val="133000"/>
              </a:lnSpc>
              <a:spcAft>
                <a:spcPts val="1050"/>
              </a:spcAft>
              <a:buNone/>
            </a:pPr>
            <a:endParaRPr lang="en-US" sz="950" dirty="0"/>
          </a:p>
          <a:p>
            <a:pPr marL="0" indent="0" algn="l">
              <a:lnSpc>
                <a:spcPct val="133000"/>
              </a:lnSpc>
              <a:spcAft>
                <a:spcPts val="1050"/>
              </a:spcAft>
              <a:buNone/>
            </a:pPr>
            <a:endParaRPr lang="en-US" sz="950" dirty="0"/>
          </a:p>
          <a:p>
            <a:pPr marL="0" indent="0" algn="l">
              <a:lnSpc>
                <a:spcPct val="133000"/>
              </a:lnSpc>
              <a:spcAft>
                <a:spcPts val="1050"/>
              </a:spcAft>
              <a:buNone/>
            </a:pPr>
            <a:endParaRPr lang="en-US" sz="950" dirty="0"/>
          </a:p>
          <a:p>
            <a:pPr marL="0" indent="0" algn="l">
              <a:lnSpc>
                <a:spcPct val="133000"/>
              </a:lnSpc>
              <a:spcAft>
                <a:spcPts val="1050"/>
              </a:spcAft>
              <a:buNone/>
            </a:pPr>
            <a:endParaRPr lang="en-US" sz="950" dirty="0"/>
          </a:p>
          <a:p>
            <a:pPr marL="0" indent="0" algn="l">
              <a:lnSpc>
                <a:spcPct val="133000"/>
              </a:lnSpc>
              <a:spcAft>
                <a:spcPts val="1050"/>
              </a:spcAft>
              <a:buNone/>
            </a:pPr>
            <a:endParaRPr lang="en-US" sz="950" dirty="0"/>
          </a:p>
          <a:p>
            <a:pPr marL="0" indent="0" algn="l">
              <a:lnSpc>
                <a:spcPct val="133000"/>
              </a:lnSpc>
              <a:spcAft>
                <a:spcPts val="1050"/>
              </a:spcAft>
              <a:buNone/>
            </a:pPr>
            <a:endParaRPr lang="en-US" sz="950" dirty="0"/>
          </a:p>
          <a:p>
            <a:pPr marL="0" indent="0" algn="l">
              <a:lnSpc>
                <a:spcPct val="133000"/>
              </a:lnSpc>
              <a:spcAft>
                <a:spcPts val="1050"/>
              </a:spcAft>
              <a:buNone/>
            </a:pPr>
            <a:endParaRPr lang="en-US" sz="950" dirty="0"/>
          </a:p>
        </p:txBody>
      </p:sp>
      <p:sp>
        <p:nvSpPr>
          <p:cNvPr id="5" name="Text 31"/>
          <p:cNvSpPr/>
          <p:nvPr/>
        </p:nvSpPr>
        <p:spPr>
          <a:xfrm>
            <a:off x="474281" y="1669352"/>
            <a:ext cx="4305077" cy="167134"/>
          </a:xfrm>
          <a:prstGeom prst="rect">
            <a:avLst/>
          </a:prstGeom>
          <a:noFill/>
          <a:ln/>
        </p:spPr>
        <p:txBody>
          <a:bodyPr wrap="none" lIns="0" tIns="0" rIns="0" bIns="0" rtlCol="0" anchor="t"/>
          <a:lstStyle/>
          <a:p>
            <a:pPr marL="0" indent="0" algn="l">
              <a:lnSpc>
                <a:spcPct val="126000"/>
              </a:lnSpc>
              <a:buNone/>
            </a:pPr>
            <a:r>
              <a:rPr lang="en-US" sz="850" dirty="0">
                <a:solidFill>
                  <a:srgbClr val="CFD0D8"/>
                </a:solidFill>
                <a:latin typeface="Roboto" pitchFamily="34" charset="0"/>
                <a:ea typeface="Roboto" pitchFamily="34" charset="-122"/>
                <a:cs typeface="Roboto" pitchFamily="34" charset="-120"/>
              </a:rPr>
              <a:t>Which customer country has the highest number of purchases?</a:t>
            </a:r>
            <a:endParaRPr lang="en-US" sz="850"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3090" y="528309"/>
            <a:ext cx="1148187" cy="887235"/>
          </a:xfrm>
          <a:prstGeom prst="rect">
            <a:avLst/>
          </a:prstGeom>
        </p:spPr>
      </p:pic>
      <p:sp>
        <p:nvSpPr>
          <p:cNvPr id="7" name="Text 32"/>
          <p:cNvSpPr/>
          <p:nvPr/>
        </p:nvSpPr>
        <p:spPr>
          <a:xfrm>
            <a:off x="5138769" y="1669352"/>
            <a:ext cx="4305077" cy="167134"/>
          </a:xfrm>
          <a:prstGeom prst="rect">
            <a:avLst/>
          </a:prstGeom>
          <a:noFill/>
          <a:ln/>
        </p:spPr>
        <p:txBody>
          <a:bodyPr wrap="none" lIns="0" tIns="0" rIns="0" bIns="0" rtlCol="0" anchor="t"/>
          <a:lstStyle/>
          <a:p>
            <a:pPr marL="0" indent="0" algn="l">
              <a:lnSpc>
                <a:spcPct val="126000"/>
              </a:lnSpc>
              <a:buNone/>
            </a:pPr>
            <a:r>
              <a:rPr lang="en-US" sz="850" dirty="0">
                <a:solidFill>
                  <a:srgbClr val="CFD0D8"/>
                </a:solidFill>
                <a:latin typeface="Roboto" pitchFamily="34" charset="0"/>
                <a:ea typeface="Roboto" pitchFamily="34" charset="-122"/>
                <a:cs typeface="Roboto" pitchFamily="34" charset="-120"/>
              </a:rPr>
              <a:t>Which country has the highest average order value?</a:t>
            </a:r>
            <a:endParaRPr lang="en-US" sz="850" dirty="0"/>
          </a:p>
        </p:txBody>
      </p:sp>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38768" y="972819"/>
            <a:ext cx="1889760" cy="388620"/>
          </a:xfrm>
          <a:prstGeom prst="rect">
            <a:avLst/>
          </a:prstGeom>
        </p:spPr>
      </p:pic>
      <p:sp>
        <p:nvSpPr>
          <p:cNvPr id="9" name="Text 37"/>
          <p:cNvSpPr/>
          <p:nvPr/>
        </p:nvSpPr>
        <p:spPr>
          <a:xfrm>
            <a:off x="473090" y="3219386"/>
            <a:ext cx="4305077" cy="167134"/>
          </a:xfrm>
          <a:prstGeom prst="rect">
            <a:avLst/>
          </a:prstGeom>
          <a:noFill/>
          <a:ln/>
        </p:spPr>
        <p:txBody>
          <a:bodyPr wrap="none" lIns="0" tIns="0" rIns="0" bIns="0" rtlCol="0" anchor="t"/>
          <a:lstStyle/>
          <a:p>
            <a:pPr marL="0" indent="0" algn="l">
              <a:lnSpc>
                <a:spcPct val="126000"/>
              </a:lnSpc>
              <a:buNone/>
            </a:pPr>
            <a:r>
              <a:rPr lang="en-US" sz="850" dirty="0">
                <a:solidFill>
                  <a:srgbClr val="CFD0D8"/>
                </a:solidFill>
                <a:latin typeface="Roboto" pitchFamily="34" charset="0"/>
                <a:ea typeface="Roboto" pitchFamily="34" charset="-122"/>
                <a:cs typeface="Roboto" pitchFamily="34" charset="-120"/>
              </a:rPr>
              <a:t>What is the average spending by each age group?</a:t>
            </a:r>
            <a:endParaRPr lang="en-US" sz="850" dirty="0"/>
          </a:p>
        </p:txBody>
      </p:sp>
      <p:pic>
        <p:nvPicPr>
          <p:cNvPr id="10" name="Picture 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4281" y="2254828"/>
            <a:ext cx="1385687" cy="689870"/>
          </a:xfrm>
          <a:prstGeom prst="rect">
            <a:avLst/>
          </a:prstGeom>
        </p:spPr>
      </p:pic>
      <p:sp>
        <p:nvSpPr>
          <p:cNvPr id="11" name="Text 13"/>
          <p:cNvSpPr/>
          <p:nvPr/>
        </p:nvSpPr>
        <p:spPr>
          <a:xfrm>
            <a:off x="494928" y="4637809"/>
            <a:ext cx="3847877" cy="334268"/>
          </a:xfrm>
          <a:prstGeom prst="rect">
            <a:avLst/>
          </a:prstGeom>
          <a:noFill/>
          <a:ln/>
        </p:spPr>
        <p:txBody>
          <a:bodyPr wrap="square" lIns="0" tIns="0" rIns="0" bIns="0" rtlCol="0" anchor="t">
            <a:normAutofit/>
          </a:bodyPr>
          <a:lstStyle/>
          <a:p>
            <a:pPr marL="0" indent="0" algn="l">
              <a:lnSpc>
                <a:spcPct val="126000"/>
              </a:lnSpc>
              <a:buNone/>
            </a:pPr>
            <a:r>
              <a:rPr lang="en-US" sz="850" dirty="0">
                <a:solidFill>
                  <a:srgbClr val="CFD0D8"/>
                </a:solidFill>
                <a:latin typeface="Roboto" pitchFamily="34" charset="0"/>
                <a:ea typeface="Roboto" pitchFamily="34" charset="-122"/>
                <a:cs typeface="Roboto" pitchFamily="34" charset="-120"/>
              </a:rPr>
              <a:t>Which combination of dealer, model, and country generates the highest overall revenue?</a:t>
            </a:r>
            <a:endParaRPr lang="en-US" sz="850" dirty="0"/>
          </a:p>
        </p:txBody>
      </p:sp>
      <p:sp>
        <p:nvSpPr>
          <p:cNvPr id="12" name="Text 26"/>
          <p:cNvSpPr/>
          <p:nvPr/>
        </p:nvSpPr>
        <p:spPr>
          <a:xfrm>
            <a:off x="5138768" y="3124883"/>
            <a:ext cx="4305077" cy="167134"/>
          </a:xfrm>
          <a:prstGeom prst="rect">
            <a:avLst/>
          </a:prstGeom>
          <a:noFill/>
          <a:ln/>
        </p:spPr>
        <p:txBody>
          <a:bodyPr wrap="none" lIns="0" tIns="0" rIns="0" bIns="0" rtlCol="0" anchor="t"/>
          <a:lstStyle/>
          <a:p>
            <a:pPr marL="0" indent="0" algn="l">
              <a:lnSpc>
                <a:spcPct val="126000"/>
              </a:lnSpc>
              <a:buNone/>
            </a:pPr>
            <a:r>
              <a:rPr lang="en-US" sz="850" dirty="0">
                <a:solidFill>
                  <a:srgbClr val="CFD0D8"/>
                </a:solidFill>
                <a:latin typeface="Roboto" pitchFamily="34" charset="0"/>
                <a:ea typeface="Roboto" pitchFamily="34" charset="-122"/>
                <a:cs typeface="Roboto" pitchFamily="34" charset="-120"/>
              </a:rPr>
              <a:t>In Which quarter highest sales generated ?</a:t>
            </a:r>
            <a:endParaRPr lang="en-US" sz="850" dirty="0"/>
          </a:p>
        </p:txBody>
      </p:sp>
      <p:pic>
        <p:nvPicPr>
          <p:cNvPr id="13" name="Picture 1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138769" y="2393389"/>
            <a:ext cx="1379220" cy="411480"/>
          </a:xfrm>
          <a:prstGeom prst="rect">
            <a:avLst/>
          </a:prstGeom>
        </p:spPr>
      </p:pic>
      <p:pic>
        <p:nvPicPr>
          <p:cNvPr id="14" name="Picture 1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94928" y="3807630"/>
            <a:ext cx="2749560" cy="737162"/>
          </a:xfrm>
          <a:prstGeom prst="rect">
            <a:avLst/>
          </a:prstGeom>
        </p:spPr>
      </p:pic>
      <p:sp>
        <p:nvSpPr>
          <p:cNvPr id="15" name="Rounded Rectangle 14"/>
          <p:cNvSpPr/>
          <p:nvPr/>
        </p:nvSpPr>
        <p:spPr>
          <a:xfrm>
            <a:off x="8052816" y="4870704"/>
            <a:ext cx="1030224" cy="213360"/>
          </a:xfrm>
          <a:prstGeom prst="roundRect">
            <a:avLst/>
          </a:prstGeom>
          <a:solidFill>
            <a:srgbClr val="000019"/>
          </a:solidFill>
          <a:ln>
            <a:solidFill>
              <a:srgbClr val="0000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96119" y="484808"/>
            <a:ext cx="8151763" cy="181645"/>
          </a:xfrm>
          <a:prstGeom prst="rect">
            <a:avLst/>
          </a:prstGeom>
          <a:noFill/>
          <a:ln/>
        </p:spPr>
        <p:txBody>
          <a:bodyPr wrap="none" lIns="0" tIns="0" rIns="0" bIns="0" rtlCol="0" anchor="t"/>
          <a:lstStyle/>
          <a:p>
            <a:pPr marL="0" indent="0" algn="l">
              <a:lnSpc>
                <a:spcPct val="104000"/>
              </a:lnSpc>
              <a:buNone/>
            </a:pPr>
            <a:r>
              <a:rPr lang="en-US" sz="1100" dirty="0">
                <a:solidFill>
                  <a:srgbClr val="FFFFFF"/>
                </a:solidFill>
                <a:latin typeface="Roboto Medium" pitchFamily="34" charset="0"/>
                <a:ea typeface="Roboto Medium" pitchFamily="34" charset="-122"/>
                <a:cs typeface="Roboto Medium" pitchFamily="34" charset="-120"/>
              </a:rPr>
              <a:t>Dashboard &amp; Visualization</a:t>
            </a:r>
            <a:endParaRPr lang="en-US" sz="1100" dirty="0"/>
          </a:p>
        </p:txBody>
      </p:sp>
      <p:sp>
        <p:nvSpPr>
          <p:cNvPr id="3" name="Text 1"/>
          <p:cNvSpPr/>
          <p:nvPr/>
        </p:nvSpPr>
        <p:spPr>
          <a:xfrm>
            <a:off x="496119" y="710059"/>
            <a:ext cx="8151763" cy="363364"/>
          </a:xfrm>
          <a:prstGeom prst="rect">
            <a:avLst/>
          </a:prstGeom>
          <a:noFill/>
          <a:ln/>
        </p:spPr>
        <p:txBody>
          <a:bodyPr wrap="none" lIns="0" tIns="0" rIns="0" bIns="0" rtlCol="0" anchor="t"/>
          <a:lstStyle/>
          <a:p>
            <a:pPr marL="0" indent="0" algn="l">
              <a:lnSpc>
                <a:spcPct val="104000"/>
              </a:lnSpc>
              <a:buNone/>
            </a:pPr>
            <a:r>
              <a:rPr lang="en-US" dirty="0">
                <a:solidFill>
                  <a:srgbClr val="FFFFFF"/>
                </a:solidFill>
                <a:latin typeface="Roboto Medium" pitchFamily="34" charset="0"/>
                <a:ea typeface="Roboto Medium" pitchFamily="34" charset="-122"/>
                <a:cs typeface="Roboto Medium" pitchFamily="34" charset="-120"/>
              </a:rPr>
              <a:t>Interactive Power BI Reporting</a:t>
            </a:r>
            <a:endParaRPr lang="en-US" dirty="0"/>
          </a:p>
        </p:txBody>
      </p:sp>
      <p:pic>
        <p:nvPicPr>
          <p:cNvPr id="4" name="Image 0" descr="preencoded.png"/>
          <p:cNvPicPr>
            <a:picLocks noChangeAspect="1"/>
          </p:cNvPicPr>
          <p:nvPr/>
        </p:nvPicPr>
        <p:blipFill>
          <a:blip r:embed="rId3"/>
          <a:stretch>
            <a:fillRect/>
          </a:stretch>
        </p:blipFill>
        <p:spPr>
          <a:xfrm>
            <a:off x="496119" y="1359545"/>
            <a:ext cx="1428750" cy="1428750"/>
          </a:xfrm>
          <a:prstGeom prst="rect">
            <a:avLst/>
          </a:prstGeom>
        </p:spPr>
      </p:pic>
      <p:sp>
        <p:nvSpPr>
          <p:cNvPr id="5" name="Text 2"/>
          <p:cNvSpPr/>
          <p:nvPr/>
        </p:nvSpPr>
        <p:spPr>
          <a:xfrm>
            <a:off x="4718596" y="1006084"/>
            <a:ext cx="3934048" cy="540693"/>
          </a:xfrm>
          <a:prstGeom prst="rect">
            <a:avLst/>
          </a:prstGeom>
          <a:noFill/>
          <a:ln/>
        </p:spPr>
        <p:txBody>
          <a:bodyPr wrap="square" lIns="0" tIns="0" rIns="0" bIns="0" rtlCol="0" anchor="t">
            <a:normAutofit/>
          </a:bodyPr>
          <a:lstStyle/>
          <a:p>
            <a:pPr>
              <a:lnSpc>
                <a:spcPct val="129000"/>
              </a:lnSpc>
            </a:pPr>
            <a:r>
              <a:rPr lang="en-US" sz="900" dirty="0" smtClean="0">
                <a:solidFill>
                  <a:srgbClr val="CFD0D8"/>
                </a:solidFill>
                <a:latin typeface="Roboto" pitchFamily="34" charset="0"/>
                <a:ea typeface="Roboto" pitchFamily="34" charset="-122"/>
                <a:cs typeface="Roboto" pitchFamily="34" charset="-120"/>
              </a:rPr>
              <a:t>Power </a:t>
            </a:r>
            <a:r>
              <a:rPr lang="en-US" sz="900" dirty="0">
                <a:solidFill>
                  <a:srgbClr val="CFD0D8"/>
                </a:solidFill>
                <a:latin typeface="Roboto" pitchFamily="34" charset="0"/>
                <a:ea typeface="Roboto" pitchFamily="34" charset="-122"/>
                <a:cs typeface="Roboto" pitchFamily="34" charset="-120"/>
              </a:rPr>
              <a:t>BI helped </a:t>
            </a:r>
            <a:r>
              <a:rPr lang="en-US" sz="900" dirty="0" smtClean="0">
                <a:solidFill>
                  <a:srgbClr val="CFD0D8"/>
                </a:solidFill>
                <a:latin typeface="Roboto" pitchFamily="34" charset="0"/>
                <a:ea typeface="Roboto" pitchFamily="34" charset="-122"/>
                <a:cs typeface="Roboto" pitchFamily="34" charset="-120"/>
              </a:rPr>
              <a:t>transform </a:t>
            </a:r>
            <a:r>
              <a:rPr lang="en-US" sz="900" dirty="0">
                <a:solidFill>
                  <a:srgbClr val="CFD0D8"/>
                </a:solidFill>
                <a:latin typeface="Roboto" pitchFamily="34" charset="0"/>
                <a:ea typeface="Roboto" pitchFamily="34" charset="-122"/>
                <a:cs typeface="Roboto" pitchFamily="34" charset="-120"/>
              </a:rPr>
              <a:t>analytical outputs into executive-ready dashboards. Stakeholders can filter by </a:t>
            </a:r>
            <a:r>
              <a:rPr lang="en-US" sz="900" dirty="0" smtClean="0">
                <a:solidFill>
                  <a:srgbClr val="CFD0D8"/>
                </a:solidFill>
                <a:latin typeface="Roboto" pitchFamily="34" charset="0"/>
                <a:ea typeface="Roboto" pitchFamily="34" charset="-122"/>
                <a:cs typeface="Roboto" pitchFamily="34" charset="-120"/>
              </a:rPr>
              <a:t>each quarter, </a:t>
            </a:r>
            <a:r>
              <a:rPr lang="en-US" sz="900" dirty="0">
                <a:solidFill>
                  <a:srgbClr val="CFD0D8"/>
                </a:solidFill>
                <a:latin typeface="Roboto" pitchFamily="34" charset="0"/>
                <a:ea typeface="Roboto" pitchFamily="34" charset="-122"/>
                <a:cs typeface="Roboto" pitchFamily="34" charset="-120"/>
              </a:rPr>
              <a:t>product model, customer </a:t>
            </a:r>
            <a:r>
              <a:rPr lang="en-US" sz="900" dirty="0" smtClean="0">
                <a:solidFill>
                  <a:srgbClr val="CFD0D8"/>
                </a:solidFill>
                <a:latin typeface="Roboto" pitchFamily="34" charset="0"/>
                <a:ea typeface="Roboto" pitchFamily="34" charset="-122"/>
                <a:cs typeface="Roboto" pitchFamily="34" charset="-120"/>
              </a:rPr>
              <a:t>segment to </a:t>
            </a:r>
            <a:r>
              <a:rPr lang="en-US" sz="900" dirty="0">
                <a:solidFill>
                  <a:srgbClr val="CFD0D8"/>
                </a:solidFill>
                <a:latin typeface="Roboto" pitchFamily="34" charset="0"/>
                <a:ea typeface="Roboto" pitchFamily="34" charset="-122"/>
                <a:cs typeface="Roboto" pitchFamily="34" charset="-120"/>
              </a:rPr>
              <a:t>explore performance </a:t>
            </a:r>
            <a:r>
              <a:rPr lang="en-US" sz="900" dirty="0" smtClean="0">
                <a:solidFill>
                  <a:srgbClr val="CFD0D8"/>
                </a:solidFill>
                <a:latin typeface="Roboto" pitchFamily="34" charset="0"/>
                <a:ea typeface="Roboto" pitchFamily="34" charset="-122"/>
                <a:cs typeface="Roboto" pitchFamily="34" charset="-120"/>
              </a:rPr>
              <a:t>in best possible way.</a:t>
            </a:r>
            <a:endParaRPr lang="en-US" sz="900" dirty="0"/>
          </a:p>
        </p:txBody>
      </p:sp>
      <p:pic>
        <p:nvPicPr>
          <p:cNvPr id="6" name="Image 1" descr="preencoded.png"/>
          <p:cNvPicPr>
            <a:picLocks noChangeAspect="1"/>
          </p:cNvPicPr>
          <p:nvPr/>
        </p:nvPicPr>
        <p:blipFill>
          <a:blip r:embed="rId4">
            <a:extLst>
              <a:ext uri="{96DAC541-7B7A-43D3-8B79-37D633B846F1}">
                <asvg:svgBlip xmlns:asvg="http://schemas.microsoft.com/office/drawing/2016/SVG/main" xmlns="" r:embed="rId5"/>
              </a:ext>
            </a:extLst>
          </a:blip>
          <a:stretch>
            <a:fillRect/>
          </a:stretch>
        </p:blipFill>
        <p:spPr>
          <a:xfrm>
            <a:off x="4762202" y="1778576"/>
            <a:ext cx="174427" cy="174427"/>
          </a:xfrm>
          <a:prstGeom prst="rect">
            <a:avLst/>
          </a:prstGeom>
        </p:spPr>
      </p:pic>
      <p:sp>
        <p:nvSpPr>
          <p:cNvPr id="7" name="Text 3"/>
          <p:cNvSpPr/>
          <p:nvPr/>
        </p:nvSpPr>
        <p:spPr>
          <a:xfrm>
            <a:off x="5096470" y="1774968"/>
            <a:ext cx="3556174" cy="181645"/>
          </a:xfrm>
          <a:prstGeom prst="rect">
            <a:avLst/>
          </a:prstGeom>
          <a:noFill/>
          <a:ln/>
        </p:spPr>
        <p:txBody>
          <a:bodyPr wrap="none" lIns="0" tIns="0" rIns="0" bIns="0" rtlCol="0" anchor="t"/>
          <a:lstStyle/>
          <a:p>
            <a:pPr marL="0" indent="0" algn="l">
              <a:lnSpc>
                <a:spcPct val="104000"/>
              </a:lnSpc>
              <a:buNone/>
            </a:pPr>
            <a:r>
              <a:rPr lang="en-US" sz="1100" dirty="0">
                <a:solidFill>
                  <a:srgbClr val="CFD0D8"/>
                </a:solidFill>
                <a:latin typeface="Roboto Medium" pitchFamily="34" charset="0"/>
                <a:ea typeface="Roboto Medium" pitchFamily="34" charset="-122"/>
                <a:cs typeface="Roboto Medium" pitchFamily="34" charset="-120"/>
              </a:rPr>
              <a:t>KPI Scorecards</a:t>
            </a:r>
            <a:endParaRPr lang="en-US" sz="1100" dirty="0"/>
          </a:p>
        </p:txBody>
      </p:sp>
      <p:sp>
        <p:nvSpPr>
          <p:cNvPr id="8" name="Text 4"/>
          <p:cNvSpPr/>
          <p:nvPr/>
        </p:nvSpPr>
        <p:spPr>
          <a:xfrm>
            <a:off x="5091708" y="2064475"/>
            <a:ext cx="3556174" cy="377863"/>
          </a:xfrm>
          <a:prstGeom prst="rect">
            <a:avLst/>
          </a:prstGeom>
          <a:noFill/>
          <a:ln/>
        </p:spPr>
        <p:txBody>
          <a:bodyPr wrap="none" lIns="0" tIns="0" rIns="0" bIns="0" rtlCol="0" anchor="t"/>
          <a:lstStyle/>
          <a:p>
            <a:pPr>
              <a:lnSpc>
                <a:spcPct val="129000"/>
              </a:lnSpc>
            </a:pPr>
            <a:r>
              <a:rPr lang="en-US" sz="900" dirty="0" smtClean="0">
                <a:solidFill>
                  <a:srgbClr val="CFD0D8"/>
                </a:solidFill>
                <a:latin typeface="Roboto" pitchFamily="34" charset="0"/>
                <a:ea typeface="Roboto" pitchFamily="34" charset="-122"/>
                <a:cs typeface="Roboto" pitchFamily="34" charset="-120"/>
              </a:rPr>
              <a:t>Track total sales, profit, cars sold</a:t>
            </a:r>
            <a:r>
              <a:rPr lang="en-US" sz="900" dirty="0">
                <a:solidFill>
                  <a:srgbClr val="CFD0D8"/>
                </a:solidFill>
                <a:latin typeface="Roboto" pitchFamily="34" charset="0"/>
                <a:ea typeface="Roboto" pitchFamily="34" charset="-122"/>
                <a:cs typeface="Roboto" pitchFamily="34" charset="-120"/>
              </a:rPr>
              <a:t>, average </a:t>
            </a:r>
            <a:r>
              <a:rPr lang="en-US" sz="900" dirty="0" smtClean="0">
                <a:solidFill>
                  <a:srgbClr val="CFD0D8"/>
                </a:solidFill>
                <a:latin typeface="Roboto" pitchFamily="34" charset="0"/>
                <a:ea typeface="Roboto" pitchFamily="34" charset="-122"/>
                <a:cs typeface="Roboto" pitchFamily="34" charset="-120"/>
              </a:rPr>
              <a:t>profit, dealers, and</a:t>
            </a:r>
          </a:p>
          <a:p>
            <a:pPr marL="0" indent="0" algn="l">
              <a:lnSpc>
                <a:spcPct val="129000"/>
              </a:lnSpc>
              <a:buNone/>
            </a:pPr>
            <a:r>
              <a:rPr lang="en-US" sz="900" dirty="0" smtClean="0">
                <a:solidFill>
                  <a:srgbClr val="CFD0D8"/>
                </a:solidFill>
                <a:latin typeface="Roboto" pitchFamily="34" charset="0"/>
                <a:ea typeface="Roboto" pitchFamily="34" charset="-122"/>
                <a:cs typeface="Roboto" pitchFamily="34" charset="-120"/>
              </a:rPr>
              <a:t> countries covered.</a:t>
            </a:r>
            <a:endParaRPr lang="en-US" sz="900" dirty="0"/>
          </a:p>
        </p:txBody>
      </p:sp>
      <p:pic>
        <p:nvPicPr>
          <p:cNvPr id="9" name="Image 2" descr="preencoded.png"/>
          <p:cNvPicPr>
            <a:picLocks noChangeAspect="1"/>
          </p:cNvPicPr>
          <p:nvPr/>
        </p:nvPicPr>
        <p:blipFill>
          <a:blip r:embed="rId4">
            <a:extLst>
              <a:ext uri="{96DAC541-7B7A-43D3-8B79-37D633B846F1}">
                <asvg:svgBlip xmlns:asvg="http://schemas.microsoft.com/office/drawing/2016/SVG/main" xmlns="" r:embed="rId6"/>
              </a:ext>
            </a:extLst>
          </a:blip>
          <a:stretch>
            <a:fillRect/>
          </a:stretch>
        </p:blipFill>
        <p:spPr>
          <a:xfrm>
            <a:off x="4762202" y="2599989"/>
            <a:ext cx="174427" cy="174427"/>
          </a:xfrm>
          <a:prstGeom prst="rect">
            <a:avLst/>
          </a:prstGeom>
        </p:spPr>
      </p:pic>
      <p:sp>
        <p:nvSpPr>
          <p:cNvPr id="10" name="Text 5"/>
          <p:cNvSpPr/>
          <p:nvPr/>
        </p:nvSpPr>
        <p:spPr>
          <a:xfrm>
            <a:off x="5096470" y="2596381"/>
            <a:ext cx="3556174" cy="181645"/>
          </a:xfrm>
          <a:prstGeom prst="rect">
            <a:avLst/>
          </a:prstGeom>
          <a:noFill/>
          <a:ln/>
        </p:spPr>
        <p:txBody>
          <a:bodyPr wrap="none" lIns="0" tIns="0" rIns="0" bIns="0" rtlCol="0" anchor="t"/>
          <a:lstStyle/>
          <a:p>
            <a:pPr>
              <a:lnSpc>
                <a:spcPct val="104000"/>
              </a:lnSpc>
            </a:pPr>
            <a:r>
              <a:rPr lang="en-US" sz="1100" dirty="0" smtClean="0">
                <a:solidFill>
                  <a:srgbClr val="CFD0D8"/>
                </a:solidFill>
                <a:latin typeface="Roboto Medium" pitchFamily="34" charset="0"/>
                <a:ea typeface="Roboto Medium" pitchFamily="34" charset="-122"/>
                <a:cs typeface="Roboto Medium" pitchFamily="34" charset="-120"/>
              </a:rPr>
              <a:t>Mont</a:t>
            </a:r>
            <a:r>
              <a:rPr lang="en-US" sz="1100" dirty="0">
                <a:solidFill>
                  <a:srgbClr val="CFD0D8"/>
                </a:solidFill>
                <a:latin typeface="Roboto" pitchFamily="34" charset="0"/>
                <a:ea typeface="Roboto" pitchFamily="34" charset="-122"/>
                <a:cs typeface="Roboto" pitchFamily="34" charset="-120"/>
              </a:rPr>
              <a:t>h</a:t>
            </a:r>
            <a:r>
              <a:rPr lang="en-US" sz="1100" dirty="0" smtClean="0">
                <a:solidFill>
                  <a:srgbClr val="CFD0D8"/>
                </a:solidFill>
                <a:latin typeface="Roboto Medium" pitchFamily="34" charset="0"/>
                <a:ea typeface="Roboto Medium" pitchFamily="34" charset="-122"/>
                <a:cs typeface="Roboto Medium" pitchFamily="34" charset="-120"/>
              </a:rPr>
              <a:t>ly Sales Trends</a:t>
            </a:r>
            <a:endParaRPr lang="en-US" sz="1100" dirty="0"/>
          </a:p>
        </p:txBody>
      </p:sp>
      <p:sp>
        <p:nvSpPr>
          <p:cNvPr id="11" name="Text 6"/>
          <p:cNvSpPr/>
          <p:nvPr/>
        </p:nvSpPr>
        <p:spPr>
          <a:xfrm>
            <a:off x="5096470" y="2902615"/>
            <a:ext cx="3556174" cy="387013"/>
          </a:xfrm>
          <a:prstGeom prst="rect">
            <a:avLst/>
          </a:prstGeom>
          <a:noFill/>
          <a:ln/>
        </p:spPr>
        <p:txBody>
          <a:bodyPr wrap="none" lIns="0" tIns="0" rIns="0" bIns="0" rtlCol="0" anchor="t"/>
          <a:lstStyle/>
          <a:p>
            <a:pPr>
              <a:lnSpc>
                <a:spcPct val="129000"/>
              </a:lnSpc>
            </a:pPr>
            <a:r>
              <a:rPr lang="en-US" sz="900" dirty="0">
                <a:solidFill>
                  <a:srgbClr val="CFD0D8"/>
                </a:solidFill>
                <a:latin typeface="Roboto" pitchFamily="34" charset="0"/>
                <a:ea typeface="Roboto" pitchFamily="34" charset="-122"/>
                <a:cs typeface="Roboto" pitchFamily="34" charset="-120"/>
              </a:rPr>
              <a:t>Visualize monthly </a:t>
            </a:r>
            <a:r>
              <a:rPr lang="en-US" sz="900" dirty="0" smtClean="0">
                <a:solidFill>
                  <a:srgbClr val="CFD0D8"/>
                </a:solidFill>
                <a:latin typeface="Roboto" pitchFamily="34" charset="0"/>
                <a:ea typeface="Roboto" pitchFamily="34" charset="-122"/>
                <a:cs typeface="Roboto" pitchFamily="34" charset="-120"/>
              </a:rPr>
              <a:t>sales performance to identify seasonal patterns and</a:t>
            </a:r>
          </a:p>
          <a:p>
            <a:pPr>
              <a:lnSpc>
                <a:spcPct val="129000"/>
              </a:lnSpc>
            </a:pPr>
            <a:r>
              <a:rPr lang="en-US" sz="900" dirty="0">
                <a:solidFill>
                  <a:srgbClr val="CFD0D8"/>
                </a:solidFill>
                <a:latin typeface="Roboto" pitchFamily="34" charset="0"/>
                <a:ea typeface="Roboto" pitchFamily="34" charset="-122"/>
                <a:cs typeface="Roboto" pitchFamily="34" charset="-120"/>
              </a:rPr>
              <a:t> growth </a:t>
            </a:r>
            <a:r>
              <a:rPr lang="en-US" sz="900" dirty="0" smtClean="0">
                <a:solidFill>
                  <a:srgbClr val="CFD0D8"/>
                </a:solidFill>
                <a:latin typeface="Roboto" pitchFamily="34" charset="0"/>
                <a:ea typeface="Roboto" pitchFamily="34" charset="-122"/>
                <a:cs typeface="Roboto" pitchFamily="34" charset="-120"/>
              </a:rPr>
              <a:t>trends..</a:t>
            </a:r>
            <a:endParaRPr lang="en-US" sz="900" dirty="0"/>
          </a:p>
        </p:txBody>
      </p:sp>
      <p:pic>
        <p:nvPicPr>
          <p:cNvPr id="12" name="Image 3" descr="preencoded.png"/>
          <p:cNvPicPr>
            <a:picLocks noChangeAspect="1"/>
          </p:cNvPicPr>
          <p:nvPr/>
        </p:nvPicPr>
        <p:blipFill>
          <a:blip r:embed="rId4">
            <a:extLst>
              <a:ext uri="{96DAC541-7B7A-43D3-8B79-37D633B846F1}">
                <asvg:svgBlip xmlns:asvg="http://schemas.microsoft.com/office/drawing/2016/SVG/main" xmlns="" r:embed="rId7"/>
              </a:ext>
            </a:extLst>
          </a:blip>
          <a:stretch>
            <a:fillRect/>
          </a:stretch>
        </p:blipFill>
        <p:spPr>
          <a:xfrm>
            <a:off x="4762201" y="3414481"/>
            <a:ext cx="174427" cy="174427"/>
          </a:xfrm>
          <a:prstGeom prst="rect">
            <a:avLst/>
          </a:prstGeom>
        </p:spPr>
      </p:pic>
      <p:sp>
        <p:nvSpPr>
          <p:cNvPr id="13" name="Text 7"/>
          <p:cNvSpPr/>
          <p:nvPr/>
        </p:nvSpPr>
        <p:spPr>
          <a:xfrm>
            <a:off x="5091708" y="3424976"/>
            <a:ext cx="3556174" cy="181645"/>
          </a:xfrm>
          <a:prstGeom prst="rect">
            <a:avLst/>
          </a:prstGeom>
          <a:noFill/>
          <a:ln/>
        </p:spPr>
        <p:txBody>
          <a:bodyPr wrap="none" lIns="0" tIns="0" rIns="0" bIns="0" rtlCol="0" anchor="t"/>
          <a:lstStyle/>
          <a:p>
            <a:pPr>
              <a:lnSpc>
                <a:spcPct val="104000"/>
              </a:lnSpc>
            </a:pPr>
            <a:r>
              <a:rPr lang="en-US" sz="1100" dirty="0">
                <a:solidFill>
                  <a:srgbClr val="CFD0D8"/>
                </a:solidFill>
                <a:latin typeface="Roboto Medium" pitchFamily="34" charset="0"/>
                <a:ea typeface="Roboto Medium" pitchFamily="34" charset="-122"/>
                <a:cs typeface="Roboto Medium" pitchFamily="34" charset="-120"/>
              </a:rPr>
              <a:t>Category </a:t>
            </a:r>
            <a:r>
              <a:rPr lang="en-US" sz="1100" dirty="0" smtClean="0">
                <a:solidFill>
                  <a:srgbClr val="CFD0D8"/>
                </a:solidFill>
                <a:latin typeface="Roboto Medium" pitchFamily="34" charset="0"/>
                <a:ea typeface="Roboto Medium" pitchFamily="34" charset="-122"/>
                <a:cs typeface="Roboto Medium" pitchFamily="34" charset="-120"/>
              </a:rPr>
              <a:t>&amp; Fuel Analysis</a:t>
            </a:r>
            <a:endParaRPr lang="en-US" sz="1100" dirty="0"/>
          </a:p>
        </p:txBody>
      </p:sp>
      <p:sp>
        <p:nvSpPr>
          <p:cNvPr id="14" name="Text 8"/>
          <p:cNvSpPr/>
          <p:nvPr/>
        </p:nvSpPr>
        <p:spPr>
          <a:xfrm>
            <a:off x="5096470" y="3756784"/>
            <a:ext cx="3556174" cy="398264"/>
          </a:xfrm>
          <a:prstGeom prst="rect">
            <a:avLst/>
          </a:prstGeom>
          <a:noFill/>
          <a:ln/>
        </p:spPr>
        <p:txBody>
          <a:bodyPr wrap="none" lIns="0" tIns="0" rIns="0" bIns="0" rtlCol="0" anchor="t"/>
          <a:lstStyle/>
          <a:p>
            <a:pPr>
              <a:lnSpc>
                <a:spcPct val="129000"/>
              </a:lnSpc>
            </a:pPr>
            <a:r>
              <a:rPr lang="en-US" sz="900" dirty="0" smtClean="0">
                <a:solidFill>
                  <a:srgbClr val="CFD0D8"/>
                </a:solidFill>
                <a:latin typeface="Roboto" pitchFamily="34" charset="0"/>
                <a:ea typeface="Roboto" pitchFamily="34" charset="-122"/>
                <a:cs typeface="Roboto" pitchFamily="34" charset="-120"/>
              </a:rPr>
              <a:t>Compare sales </a:t>
            </a:r>
            <a:r>
              <a:rPr lang="en-US" sz="900" dirty="0">
                <a:solidFill>
                  <a:srgbClr val="CFD0D8"/>
                </a:solidFill>
                <a:latin typeface="Roboto" pitchFamily="34" charset="0"/>
                <a:ea typeface="Roboto" pitchFamily="34" charset="-122"/>
                <a:cs typeface="Roboto" pitchFamily="34" charset="-120"/>
              </a:rPr>
              <a:t>across vehicle </a:t>
            </a:r>
            <a:r>
              <a:rPr lang="en-US" sz="900" dirty="0" smtClean="0">
                <a:solidFill>
                  <a:srgbClr val="CFD0D8"/>
                </a:solidFill>
                <a:latin typeface="Roboto" pitchFamily="34" charset="0"/>
                <a:ea typeface="Roboto" pitchFamily="34" charset="-122"/>
                <a:cs typeface="Roboto" pitchFamily="34" charset="-120"/>
              </a:rPr>
              <a:t>categories </a:t>
            </a:r>
          </a:p>
          <a:p>
            <a:pPr marL="0" indent="0" algn="l">
              <a:lnSpc>
                <a:spcPct val="129000"/>
              </a:lnSpc>
              <a:buNone/>
            </a:pPr>
            <a:r>
              <a:rPr lang="en-US" sz="900" dirty="0" smtClean="0">
                <a:solidFill>
                  <a:srgbClr val="CFD0D8"/>
                </a:solidFill>
                <a:latin typeface="Roboto" pitchFamily="34" charset="0"/>
                <a:ea typeface="Roboto" pitchFamily="34" charset="-122"/>
                <a:cs typeface="Roboto" pitchFamily="34" charset="-120"/>
              </a:rPr>
              <a:t>and fuel types to understand product performance</a:t>
            </a:r>
            <a:endParaRPr lang="en-US" sz="900" dirty="0"/>
          </a:p>
        </p:txBody>
      </p:sp>
      <p:pic>
        <p:nvPicPr>
          <p:cNvPr id="15" name="Image 4" descr="preencoded.png"/>
          <p:cNvPicPr>
            <a:picLocks noChangeAspect="1"/>
          </p:cNvPicPr>
          <p:nvPr/>
        </p:nvPicPr>
        <p:blipFill>
          <a:blip r:embed="rId4">
            <a:extLst>
              <a:ext uri="{96DAC541-7B7A-43D3-8B79-37D633B846F1}">
                <asvg:svgBlip xmlns:asvg="http://schemas.microsoft.com/office/drawing/2016/SVG/main" xmlns="" r:embed="rId9"/>
              </a:ext>
            </a:extLst>
          </a:blip>
          <a:stretch>
            <a:fillRect/>
          </a:stretch>
        </p:blipFill>
        <p:spPr>
          <a:xfrm>
            <a:off x="4762202" y="4312577"/>
            <a:ext cx="174427" cy="174427"/>
          </a:xfrm>
          <a:prstGeom prst="rect">
            <a:avLst/>
          </a:prstGeom>
        </p:spPr>
      </p:pic>
      <p:sp>
        <p:nvSpPr>
          <p:cNvPr id="16" name="Text 9"/>
          <p:cNvSpPr/>
          <p:nvPr/>
        </p:nvSpPr>
        <p:spPr>
          <a:xfrm>
            <a:off x="5096470" y="4313759"/>
            <a:ext cx="3556174" cy="181645"/>
          </a:xfrm>
          <a:prstGeom prst="rect">
            <a:avLst/>
          </a:prstGeom>
          <a:noFill/>
          <a:ln/>
        </p:spPr>
        <p:txBody>
          <a:bodyPr wrap="none" lIns="0" tIns="0" rIns="0" bIns="0" rtlCol="0" anchor="t"/>
          <a:lstStyle/>
          <a:p>
            <a:pPr>
              <a:lnSpc>
                <a:spcPct val="104000"/>
              </a:lnSpc>
            </a:pPr>
            <a:r>
              <a:rPr lang="en-US" sz="1100" dirty="0">
                <a:solidFill>
                  <a:srgbClr val="CFD0D8"/>
                </a:solidFill>
                <a:latin typeface="Roboto Medium" pitchFamily="34" charset="0"/>
                <a:ea typeface="Roboto Medium" pitchFamily="34" charset="-122"/>
                <a:cs typeface="Roboto Medium" pitchFamily="34" charset="-120"/>
              </a:rPr>
              <a:t>Geographic</a:t>
            </a:r>
            <a:r>
              <a:rPr lang="en-US" sz="1100" dirty="0" smtClean="0">
                <a:solidFill>
                  <a:srgbClr val="CFD0D8"/>
                </a:solidFill>
                <a:latin typeface="Roboto Medium" pitchFamily="34" charset="0"/>
                <a:ea typeface="Roboto Medium" pitchFamily="34" charset="-122"/>
                <a:cs typeface="Roboto Medium" pitchFamily="34" charset="-120"/>
              </a:rPr>
              <a:t> Performance </a:t>
            </a:r>
            <a:endParaRPr lang="en-US" sz="1100" dirty="0"/>
          </a:p>
        </p:txBody>
      </p:sp>
      <p:sp>
        <p:nvSpPr>
          <p:cNvPr id="17" name="Text 10"/>
          <p:cNvSpPr/>
          <p:nvPr/>
        </p:nvSpPr>
        <p:spPr>
          <a:xfrm>
            <a:off x="5091708" y="4635533"/>
            <a:ext cx="3556174" cy="180231"/>
          </a:xfrm>
          <a:prstGeom prst="rect">
            <a:avLst/>
          </a:prstGeom>
          <a:noFill/>
          <a:ln/>
        </p:spPr>
        <p:txBody>
          <a:bodyPr wrap="none" lIns="0" tIns="0" rIns="0" bIns="0" rtlCol="0" anchor="t"/>
          <a:lstStyle/>
          <a:p>
            <a:pPr marL="0" indent="0" algn="l">
              <a:lnSpc>
                <a:spcPct val="129000"/>
              </a:lnSpc>
              <a:buNone/>
            </a:pPr>
            <a:r>
              <a:rPr lang="en-US" sz="900" dirty="0" smtClean="0">
                <a:solidFill>
                  <a:srgbClr val="CFD0D8"/>
                </a:solidFill>
                <a:latin typeface="Roboto" pitchFamily="34" charset="0"/>
                <a:ea typeface="Roboto" pitchFamily="34" charset="-122"/>
              </a:rPr>
              <a:t>Analyze sales and profit distribution across countries and key markets.</a:t>
            </a:r>
            <a:endParaRPr lang="en-US" sz="900" dirty="0"/>
          </a:p>
        </p:txBody>
      </p:sp>
      <p:sp>
        <p:nvSpPr>
          <p:cNvPr id="18" name="Rounded Rectangle 17"/>
          <p:cNvSpPr/>
          <p:nvPr/>
        </p:nvSpPr>
        <p:spPr>
          <a:xfrm>
            <a:off x="8052816" y="4870704"/>
            <a:ext cx="1030224" cy="213360"/>
          </a:xfrm>
          <a:prstGeom prst="roundRect">
            <a:avLst/>
          </a:prstGeom>
          <a:solidFill>
            <a:srgbClr val="000019"/>
          </a:solidFill>
          <a:ln>
            <a:solidFill>
              <a:srgbClr val="0000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24837" y="363730"/>
            <a:ext cx="2520440" cy="400110"/>
          </a:xfrm>
          <a:prstGeom prst="rect">
            <a:avLst/>
          </a:prstGeom>
        </p:spPr>
        <p:txBody>
          <a:bodyPr wrap="square">
            <a:spAutoFit/>
          </a:bodyPr>
          <a:lstStyle/>
          <a:p>
            <a:r>
              <a:rPr lang="en-IN" sz="2000" dirty="0" smtClean="0">
                <a:solidFill>
                  <a:schemeClr val="bg1"/>
                </a:solidFill>
                <a:latin typeface="Roboto Medium" panose="020B0604020202020204" charset="0"/>
                <a:ea typeface="Roboto Medium" panose="020B0604020202020204" charset="0"/>
              </a:rPr>
              <a:t>Actionable Insights</a:t>
            </a:r>
            <a:endParaRPr lang="en-IN" sz="2000" dirty="0">
              <a:solidFill>
                <a:schemeClr val="bg1"/>
              </a:solidFill>
              <a:latin typeface="Roboto Medium" panose="020B0604020202020204" charset="0"/>
              <a:ea typeface="Roboto Medium" panose="020B0604020202020204" charset="0"/>
            </a:endParaRPr>
          </a:p>
        </p:txBody>
      </p:sp>
      <p:sp>
        <p:nvSpPr>
          <p:cNvPr id="12" name="Rectangle 2"/>
          <p:cNvSpPr>
            <a:spLocks noChangeArrowheads="1"/>
          </p:cNvSpPr>
          <p:nvPr/>
        </p:nvSpPr>
        <p:spPr bwMode="auto">
          <a:xfrm>
            <a:off x="624836" y="1357637"/>
            <a:ext cx="6807095"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200000"/>
              </a:lnSpc>
              <a:spcBef>
                <a:spcPct val="0"/>
              </a:spcBef>
              <a:spcAft>
                <a:spcPct val="0"/>
              </a:spcAft>
              <a:buClrTx/>
              <a:buSzTx/>
              <a:buFont typeface="Wingdings" panose="05000000000000000000" pitchFamily="2" charset="2"/>
              <a:buChar char="q"/>
              <a:tabLst/>
            </a:pPr>
            <a:r>
              <a:rPr kumimoji="0" lang="en-US" altLang="en-US" sz="1200" b="1" i="0" u="none" strike="noStrike" cap="none" normalizeH="0" baseline="0" dirty="0" smtClean="0">
                <a:ln>
                  <a:noFill/>
                </a:ln>
                <a:solidFill>
                  <a:schemeClr val="bg1">
                    <a:lumMod val="75000"/>
                  </a:schemeClr>
                </a:solidFill>
                <a:effectLst/>
                <a:latin typeface="Roboto Medium" panose="020B0604020202020204" charset="0"/>
                <a:ea typeface="Roboto Medium" panose="020B0604020202020204" charset="0"/>
              </a:rPr>
              <a:t>EV demand continues to grow, generating total sales of 15.32M.</a:t>
            </a:r>
            <a:r>
              <a:rPr kumimoji="0" lang="en-US" altLang="en-US" sz="1200" b="0" i="0" u="none" strike="noStrike" cap="none" normalizeH="0" baseline="0" dirty="0" smtClean="0">
                <a:ln>
                  <a:noFill/>
                </a:ln>
                <a:solidFill>
                  <a:schemeClr val="bg1">
                    <a:lumMod val="75000"/>
                  </a:schemeClr>
                </a:solidFill>
                <a:effectLst/>
                <a:latin typeface="Roboto Medium" panose="020B0604020202020204" charset="0"/>
                <a:ea typeface="Roboto Medium" panose="020B0604020202020204" charset="0"/>
              </a:rPr>
              <a:t> </a:t>
            </a:r>
          </a:p>
          <a:p>
            <a:pPr marL="171450" marR="0" lvl="0" indent="-171450" algn="l" defTabSz="914400" rtl="0" eaLnBrk="0" fontAlgn="base" latinLnBrk="0" hangingPunct="0">
              <a:lnSpc>
                <a:spcPct val="200000"/>
              </a:lnSpc>
              <a:spcBef>
                <a:spcPct val="0"/>
              </a:spcBef>
              <a:spcAft>
                <a:spcPct val="0"/>
              </a:spcAft>
              <a:buClrTx/>
              <a:buSzTx/>
              <a:buFont typeface="Wingdings" panose="05000000000000000000" pitchFamily="2" charset="2"/>
              <a:buChar char="q"/>
              <a:tabLst/>
            </a:pPr>
            <a:r>
              <a:rPr kumimoji="0" lang="en-US" altLang="en-US" sz="1200" b="1" i="0" u="none" strike="noStrike" cap="none" normalizeH="0" baseline="0" dirty="0" smtClean="0">
                <a:ln>
                  <a:noFill/>
                </a:ln>
                <a:solidFill>
                  <a:schemeClr val="bg1">
                    <a:lumMod val="75000"/>
                  </a:schemeClr>
                </a:solidFill>
                <a:effectLst/>
                <a:latin typeface="Roboto Medium" panose="020B0604020202020204" charset="0"/>
                <a:ea typeface="Roboto Medium" panose="020B0604020202020204" charset="0"/>
              </a:rPr>
              <a:t>India recorded the highest sales among all countries.</a:t>
            </a:r>
            <a:r>
              <a:rPr kumimoji="0" lang="en-US" altLang="en-US" sz="1200" b="0" i="0" u="none" strike="noStrike" cap="none" normalizeH="0" baseline="0" dirty="0" smtClean="0">
                <a:ln>
                  <a:noFill/>
                </a:ln>
                <a:solidFill>
                  <a:schemeClr val="bg1">
                    <a:lumMod val="75000"/>
                  </a:schemeClr>
                </a:solidFill>
                <a:effectLst/>
                <a:latin typeface="Roboto Medium" panose="020B0604020202020204" charset="0"/>
                <a:ea typeface="Roboto Medium" panose="020B0604020202020204" charset="0"/>
              </a:rPr>
              <a:t> </a:t>
            </a:r>
          </a:p>
          <a:p>
            <a:pPr marL="171450" lvl="0" indent="-171450" eaLnBrk="0" fontAlgn="base" hangingPunct="0">
              <a:lnSpc>
                <a:spcPct val="200000"/>
              </a:lnSpc>
              <a:spcBef>
                <a:spcPct val="0"/>
              </a:spcBef>
              <a:spcAft>
                <a:spcPct val="0"/>
              </a:spcAft>
              <a:buFont typeface="Wingdings" panose="05000000000000000000" pitchFamily="2" charset="2"/>
              <a:buChar char="q"/>
            </a:pPr>
            <a:r>
              <a:rPr kumimoji="0" lang="en-US" altLang="en-US" sz="1200" b="1" i="0" u="none" strike="noStrike" cap="none" normalizeH="0" baseline="0" dirty="0" smtClean="0">
                <a:ln>
                  <a:noFill/>
                </a:ln>
                <a:solidFill>
                  <a:schemeClr val="bg1">
                    <a:lumMod val="75000"/>
                  </a:schemeClr>
                </a:solidFill>
                <a:effectLst/>
                <a:latin typeface="Roboto Medium" panose="020B0604020202020204" charset="0"/>
                <a:ea typeface="Roboto Medium" panose="020B0604020202020204" charset="0"/>
              </a:rPr>
              <a:t>The </a:t>
            </a:r>
            <a:r>
              <a:rPr lang="en-IN" sz="1200" dirty="0" smtClean="0">
                <a:solidFill>
                  <a:schemeClr val="bg1">
                    <a:lumMod val="75000"/>
                  </a:schemeClr>
                </a:solidFill>
                <a:latin typeface="Roboto Medium" panose="020B0604020202020204" charset="0"/>
                <a:ea typeface="Roboto Medium" panose="020B0604020202020204" charset="0"/>
              </a:rPr>
              <a:t>G- Class model </a:t>
            </a:r>
            <a:r>
              <a:rPr kumimoji="0" lang="en-US" altLang="en-US" sz="1200" b="1" i="0" u="none" strike="noStrike" cap="none" normalizeH="0" baseline="0" dirty="0" smtClean="0">
                <a:ln>
                  <a:noFill/>
                </a:ln>
                <a:solidFill>
                  <a:schemeClr val="bg1">
                    <a:lumMod val="75000"/>
                  </a:schemeClr>
                </a:solidFill>
                <a:effectLst/>
                <a:latin typeface="Roboto Medium" panose="020B0604020202020204" charset="0"/>
                <a:ea typeface="Roboto Medium" panose="020B0604020202020204" charset="0"/>
              </a:rPr>
              <a:t>recorded the lowest sales among all models.</a:t>
            </a:r>
            <a:r>
              <a:rPr kumimoji="0" lang="en-US" altLang="en-US" sz="1200" b="0" i="0" u="none" strike="noStrike" cap="none" normalizeH="0" baseline="0" dirty="0" smtClean="0">
                <a:ln>
                  <a:noFill/>
                </a:ln>
                <a:solidFill>
                  <a:schemeClr val="bg1">
                    <a:lumMod val="75000"/>
                  </a:schemeClr>
                </a:solidFill>
                <a:effectLst/>
                <a:latin typeface="Roboto Medium" panose="020B0604020202020204" charset="0"/>
                <a:ea typeface="Roboto Medium" panose="020B0604020202020204" charset="0"/>
              </a:rPr>
              <a:t> </a:t>
            </a:r>
          </a:p>
          <a:p>
            <a:pPr marL="171450" marR="0" lvl="0" indent="-171450" algn="l" defTabSz="914400" rtl="0" eaLnBrk="0" fontAlgn="base" latinLnBrk="0" hangingPunct="0">
              <a:lnSpc>
                <a:spcPct val="200000"/>
              </a:lnSpc>
              <a:spcBef>
                <a:spcPct val="0"/>
              </a:spcBef>
              <a:spcAft>
                <a:spcPct val="0"/>
              </a:spcAft>
              <a:buClrTx/>
              <a:buSzTx/>
              <a:buFont typeface="Wingdings" panose="05000000000000000000" pitchFamily="2" charset="2"/>
              <a:buChar char="q"/>
              <a:tabLst/>
            </a:pPr>
            <a:r>
              <a:rPr kumimoji="0" lang="en-US" altLang="en-US" sz="1200" b="1" i="0" u="none" strike="noStrike" cap="none" normalizeH="0" baseline="0" dirty="0" smtClean="0">
                <a:ln>
                  <a:noFill/>
                </a:ln>
                <a:solidFill>
                  <a:schemeClr val="bg1">
                    <a:lumMod val="75000"/>
                  </a:schemeClr>
                </a:solidFill>
                <a:effectLst/>
                <a:latin typeface="Roboto Medium" panose="020B0604020202020204" charset="0"/>
                <a:ea typeface="Roboto Medium" panose="020B0604020202020204" charset="0"/>
              </a:rPr>
              <a:t>July generated the highest profit of 4.44M.</a:t>
            </a:r>
            <a:r>
              <a:rPr kumimoji="0" lang="en-US" altLang="en-US" sz="1200" b="0" i="0" u="none" strike="noStrike" cap="none" normalizeH="0" baseline="0" dirty="0" smtClean="0">
                <a:ln>
                  <a:noFill/>
                </a:ln>
                <a:solidFill>
                  <a:schemeClr val="bg1">
                    <a:lumMod val="75000"/>
                  </a:schemeClr>
                </a:solidFill>
                <a:effectLst/>
                <a:latin typeface="Roboto Medium" panose="020B0604020202020204" charset="0"/>
                <a:ea typeface="Roboto Medium" panose="020B0604020202020204" charset="0"/>
              </a:rPr>
              <a:t> </a:t>
            </a:r>
          </a:p>
          <a:p>
            <a:pPr marL="171450" marR="0" lvl="0" indent="-171450" algn="l" defTabSz="914400" rtl="0" eaLnBrk="0" fontAlgn="base" latinLnBrk="0" hangingPunct="0">
              <a:lnSpc>
                <a:spcPct val="200000"/>
              </a:lnSpc>
              <a:spcBef>
                <a:spcPct val="0"/>
              </a:spcBef>
              <a:spcAft>
                <a:spcPct val="0"/>
              </a:spcAft>
              <a:buClrTx/>
              <a:buSzTx/>
              <a:buFont typeface="Wingdings" panose="05000000000000000000" pitchFamily="2" charset="2"/>
              <a:buChar char="q"/>
              <a:tabLst/>
            </a:pPr>
            <a:r>
              <a:rPr kumimoji="0" lang="en-US" altLang="en-US" sz="1200" b="1" i="0" u="none" strike="noStrike" cap="none" normalizeH="0" baseline="0" dirty="0" smtClean="0">
                <a:ln>
                  <a:noFill/>
                </a:ln>
                <a:solidFill>
                  <a:schemeClr val="bg1">
                    <a:lumMod val="75000"/>
                  </a:schemeClr>
                </a:solidFill>
                <a:effectLst/>
                <a:latin typeface="Roboto Medium" panose="020B0604020202020204" charset="0"/>
                <a:ea typeface="Roboto Medium" panose="020B0604020202020204" charset="0"/>
              </a:rPr>
              <a:t>Diesel vehicles contributed the highest sales, totaling 73.39M.</a:t>
            </a:r>
            <a:r>
              <a:rPr kumimoji="0" lang="en-US" altLang="en-US" sz="1200" b="0" i="0" u="none" strike="noStrike" cap="none" normalizeH="0" baseline="0" dirty="0" smtClean="0">
                <a:ln>
                  <a:noFill/>
                </a:ln>
                <a:solidFill>
                  <a:schemeClr val="bg1">
                    <a:lumMod val="75000"/>
                  </a:schemeClr>
                </a:solidFill>
                <a:effectLst/>
                <a:latin typeface="Roboto Medium" panose="020B0604020202020204" charset="0"/>
                <a:ea typeface="Roboto Medium" panose="020B0604020202020204" charset="0"/>
              </a:rPr>
              <a:t> </a:t>
            </a:r>
          </a:p>
          <a:p>
            <a:pPr marL="171450" marR="0" lvl="0" indent="-171450" algn="l" defTabSz="914400" rtl="0" eaLnBrk="0" fontAlgn="base" latinLnBrk="0" hangingPunct="0">
              <a:lnSpc>
                <a:spcPct val="200000"/>
              </a:lnSpc>
              <a:spcBef>
                <a:spcPct val="0"/>
              </a:spcBef>
              <a:spcAft>
                <a:spcPct val="0"/>
              </a:spcAft>
              <a:buClrTx/>
              <a:buSzTx/>
              <a:buFont typeface="Wingdings" panose="05000000000000000000" pitchFamily="2" charset="2"/>
              <a:buChar char="q"/>
              <a:tabLst/>
            </a:pPr>
            <a:r>
              <a:rPr kumimoji="0" lang="en-US" altLang="en-US" sz="1200" b="1" i="0" u="none" strike="noStrike" cap="none" normalizeH="0" baseline="0" dirty="0" smtClean="0">
                <a:ln>
                  <a:noFill/>
                </a:ln>
                <a:solidFill>
                  <a:schemeClr val="bg1">
                    <a:lumMod val="75000"/>
                  </a:schemeClr>
                </a:solidFill>
                <a:effectLst/>
                <a:latin typeface="Roboto Medium" panose="020B0604020202020204" charset="0"/>
                <a:ea typeface="Roboto Medium" panose="020B0604020202020204" charset="0"/>
              </a:rPr>
              <a:t>The average order value was 182.73K.</a:t>
            </a:r>
            <a:r>
              <a:rPr kumimoji="0" lang="en-US" altLang="en-US" sz="1200" b="0" i="0" u="none" strike="noStrike" cap="none" normalizeH="0" baseline="0" dirty="0" smtClean="0">
                <a:ln>
                  <a:noFill/>
                </a:ln>
                <a:solidFill>
                  <a:schemeClr val="bg1">
                    <a:lumMod val="75000"/>
                  </a:schemeClr>
                </a:solidFill>
                <a:effectLst/>
                <a:latin typeface="Roboto Medium" panose="020B0604020202020204" charset="0"/>
                <a:ea typeface="Roboto Medium" panose="020B0604020202020204" charset="0"/>
              </a:rPr>
              <a:t> </a:t>
            </a:r>
          </a:p>
        </p:txBody>
      </p:sp>
      <p:sp>
        <p:nvSpPr>
          <p:cNvPr id="13" name="Rounded Rectangle 12"/>
          <p:cNvSpPr/>
          <p:nvPr/>
        </p:nvSpPr>
        <p:spPr>
          <a:xfrm>
            <a:off x="8052816" y="4870704"/>
            <a:ext cx="1030224" cy="213360"/>
          </a:xfrm>
          <a:prstGeom prst="roundRect">
            <a:avLst/>
          </a:prstGeom>
          <a:solidFill>
            <a:srgbClr val="000019"/>
          </a:solidFill>
          <a:ln>
            <a:solidFill>
              <a:srgbClr val="0000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4588827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7857" y="259968"/>
            <a:ext cx="3817461" cy="400110"/>
          </a:xfrm>
          <a:prstGeom prst="rect">
            <a:avLst/>
          </a:prstGeom>
        </p:spPr>
        <p:txBody>
          <a:bodyPr wrap="square">
            <a:spAutoFit/>
          </a:bodyPr>
          <a:lstStyle/>
          <a:p>
            <a:r>
              <a:rPr lang="en-IN" sz="2000" dirty="0" smtClean="0">
                <a:solidFill>
                  <a:schemeClr val="bg1"/>
                </a:solidFill>
                <a:latin typeface="Roboto Medium" panose="020B0604020202020204" charset="0"/>
                <a:ea typeface="Roboto Medium" panose="020B0604020202020204" charset="0"/>
              </a:rPr>
              <a:t>Business Recommendations</a:t>
            </a:r>
            <a:endParaRPr lang="en-IN" sz="2000" dirty="0">
              <a:solidFill>
                <a:schemeClr val="bg1"/>
              </a:solidFill>
              <a:latin typeface="Roboto Medium" panose="020B0604020202020204" charset="0"/>
              <a:ea typeface="Roboto Medium" panose="020B0604020202020204" charset="0"/>
            </a:endParaRPr>
          </a:p>
        </p:txBody>
      </p:sp>
      <p:sp>
        <p:nvSpPr>
          <p:cNvPr id="3" name="Text 3"/>
          <p:cNvSpPr/>
          <p:nvPr/>
        </p:nvSpPr>
        <p:spPr>
          <a:xfrm>
            <a:off x="803329" y="1444228"/>
            <a:ext cx="3556174" cy="2797032"/>
          </a:xfrm>
          <a:prstGeom prst="rect">
            <a:avLst/>
          </a:prstGeom>
          <a:noFill/>
          <a:ln/>
        </p:spPr>
        <p:txBody>
          <a:bodyPr wrap="none" lIns="0" tIns="0" rIns="0" bIns="0" rtlCol="0" anchor="t"/>
          <a:lstStyle/>
          <a:p>
            <a:pPr marL="0" indent="0" algn="l">
              <a:lnSpc>
                <a:spcPct val="104000"/>
              </a:lnSpc>
              <a:buNone/>
            </a:pPr>
            <a:endParaRPr lang="en-US" sz="1100" dirty="0"/>
          </a:p>
        </p:txBody>
      </p:sp>
      <p:sp>
        <p:nvSpPr>
          <p:cNvPr id="4" name="Rectangle 1"/>
          <p:cNvSpPr>
            <a:spLocks noChangeArrowheads="1"/>
          </p:cNvSpPr>
          <p:nvPr/>
        </p:nvSpPr>
        <p:spPr bwMode="auto">
          <a:xfrm>
            <a:off x="975618" y="1182915"/>
            <a:ext cx="8050695"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lang="en-US" altLang="en-US" sz="1200" dirty="0">
                <a:solidFill>
                  <a:schemeClr val="bg1">
                    <a:lumMod val="85000"/>
                  </a:schemeClr>
                </a:solidFill>
                <a:latin typeface="Arial" panose="020B0604020202020204" pitchFamily="34" charset="0"/>
              </a:rPr>
              <a:t>Invest in charging infrastructure partnerships and EV awareness campaigns to accelerate EV adoption. </a:t>
            </a:r>
            <a:endParaRPr kumimoji="0" lang="en-US" altLang="en-US" sz="1200" b="0" i="0" u="none" strike="noStrike" cap="none" normalizeH="0" baseline="0" dirty="0" smtClean="0">
              <a:ln>
                <a:noFill/>
              </a:ln>
              <a:solidFill>
                <a:schemeClr val="bg1">
                  <a:lumMod val="85000"/>
                </a:schemeClr>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tabLst/>
            </a:pPr>
            <a:r>
              <a:rPr kumimoji="0" lang="en-US" altLang="en-US" sz="1200" b="0" i="0" u="none" strike="noStrike" cap="none" normalizeH="0" baseline="0" dirty="0" smtClean="0">
                <a:ln>
                  <a:noFill/>
                </a:ln>
                <a:solidFill>
                  <a:schemeClr val="bg1">
                    <a:lumMod val="85000"/>
                  </a:schemeClr>
                </a:solidFill>
                <a:effectLst/>
                <a:latin typeface="Arial" panose="020B0604020202020204" pitchFamily="34" charset="0"/>
              </a:rPr>
              <a:t>Increase investment in </a:t>
            </a:r>
            <a:r>
              <a:rPr kumimoji="0" lang="en-US" altLang="en-US" sz="1200" b="1" i="0" u="none" strike="noStrike" cap="none" normalizeH="0" baseline="0" dirty="0" smtClean="0">
                <a:ln>
                  <a:noFill/>
                </a:ln>
                <a:solidFill>
                  <a:schemeClr val="bg1">
                    <a:lumMod val="85000"/>
                  </a:schemeClr>
                </a:solidFill>
                <a:effectLst/>
                <a:latin typeface="Arial" panose="020B0604020202020204" pitchFamily="34" charset="0"/>
              </a:rPr>
              <a:t>EV models</a:t>
            </a:r>
            <a:r>
              <a:rPr kumimoji="0" lang="en-US" altLang="en-US" sz="1200" b="0" i="0" u="none" strike="noStrike" cap="none" normalizeH="0" baseline="0" dirty="0" smtClean="0">
                <a:ln>
                  <a:noFill/>
                </a:ln>
                <a:solidFill>
                  <a:schemeClr val="bg1">
                    <a:lumMod val="85000"/>
                  </a:schemeClr>
                </a:solidFill>
                <a:effectLst/>
                <a:latin typeface="Arial" panose="020B0604020202020204" pitchFamily="34" charset="0"/>
              </a:rPr>
              <a:t> to capitalize on growing demand. </a:t>
            </a:r>
          </a:p>
          <a:p>
            <a:pPr marL="0" marR="0" lvl="0" indent="0" algn="l" defTabSz="914400" rtl="0" eaLnBrk="0" fontAlgn="base" latinLnBrk="0" hangingPunct="0">
              <a:lnSpc>
                <a:spcPct val="150000"/>
              </a:lnSpc>
              <a:spcBef>
                <a:spcPct val="0"/>
              </a:spcBef>
              <a:spcAft>
                <a:spcPct val="0"/>
              </a:spcAft>
              <a:buClrTx/>
              <a:buSzTx/>
              <a:tabLst/>
            </a:pPr>
            <a:r>
              <a:rPr kumimoji="0" lang="en-US" altLang="en-US" sz="1200" b="0" i="0" u="none" strike="noStrike" cap="none" normalizeH="0" baseline="0" dirty="0" smtClean="0">
                <a:ln>
                  <a:noFill/>
                </a:ln>
                <a:solidFill>
                  <a:schemeClr val="bg1">
                    <a:lumMod val="85000"/>
                  </a:schemeClr>
                </a:solidFill>
                <a:effectLst/>
                <a:latin typeface="Arial" panose="020B0604020202020204" pitchFamily="34" charset="0"/>
              </a:rPr>
              <a:t>Expand marketing and dealership presence in </a:t>
            </a:r>
            <a:r>
              <a:rPr kumimoji="0" lang="en-US" altLang="en-US" sz="1200" b="1" i="0" u="none" strike="noStrike" cap="none" normalizeH="0" baseline="0" dirty="0" smtClean="0">
                <a:ln>
                  <a:noFill/>
                </a:ln>
                <a:solidFill>
                  <a:schemeClr val="bg1">
                    <a:lumMod val="85000"/>
                  </a:schemeClr>
                </a:solidFill>
                <a:effectLst/>
                <a:latin typeface="Arial" panose="020B0604020202020204" pitchFamily="34" charset="0"/>
              </a:rPr>
              <a:t>high-performing countries</a:t>
            </a:r>
            <a:r>
              <a:rPr kumimoji="0" lang="en-US" altLang="en-US" sz="1200" b="0" i="0" u="none" strike="noStrike" cap="none" normalizeH="0" baseline="0" dirty="0" smtClean="0">
                <a:ln>
                  <a:noFill/>
                </a:ln>
                <a:solidFill>
                  <a:schemeClr val="bg1">
                    <a:lumMod val="85000"/>
                  </a:schemeClr>
                </a:solidFill>
                <a:effectLst/>
                <a:latin typeface="Arial" panose="020B0604020202020204" pitchFamily="34" charset="0"/>
              </a:rPr>
              <a:t>, especially </a:t>
            </a:r>
            <a:r>
              <a:rPr kumimoji="0" lang="en-US" altLang="en-US" sz="1200" b="1" i="0" u="none" strike="noStrike" cap="none" normalizeH="0" baseline="0" dirty="0" smtClean="0">
                <a:ln>
                  <a:noFill/>
                </a:ln>
                <a:solidFill>
                  <a:schemeClr val="bg1">
                    <a:lumMod val="85000"/>
                  </a:schemeClr>
                </a:solidFill>
                <a:effectLst/>
                <a:latin typeface="Arial" panose="020B0604020202020204" pitchFamily="34" charset="0"/>
              </a:rPr>
              <a:t>India</a:t>
            </a:r>
            <a:r>
              <a:rPr kumimoji="0" lang="en-US" altLang="en-US" sz="1200" b="0" i="0" u="none" strike="noStrike" cap="none" normalizeH="0" baseline="0" dirty="0" smtClean="0">
                <a:ln>
                  <a:noFill/>
                </a:ln>
                <a:solidFill>
                  <a:schemeClr val="bg1">
                    <a:lumMod val="85000"/>
                  </a:schemeClr>
                </a:solidFill>
                <a:effectLst/>
                <a:latin typeface="Arial" panose="020B0604020202020204" pitchFamily="34" charset="0"/>
              </a:rPr>
              <a:t>. </a:t>
            </a:r>
          </a:p>
          <a:p>
            <a:pPr lvl="0" eaLnBrk="0" fontAlgn="base" hangingPunct="0">
              <a:lnSpc>
                <a:spcPct val="150000"/>
              </a:lnSpc>
              <a:spcBef>
                <a:spcPct val="0"/>
              </a:spcBef>
              <a:spcAft>
                <a:spcPct val="0"/>
              </a:spcAft>
            </a:pPr>
            <a:r>
              <a:rPr kumimoji="0" lang="en-US" altLang="en-US" sz="1200" b="0" i="0" u="none" strike="noStrike" cap="none" normalizeH="0" baseline="0" dirty="0" smtClean="0">
                <a:ln>
                  <a:noFill/>
                </a:ln>
                <a:solidFill>
                  <a:schemeClr val="bg1">
                    <a:lumMod val="85000"/>
                  </a:schemeClr>
                </a:solidFill>
                <a:effectLst/>
                <a:latin typeface="Arial" panose="020B0604020202020204" pitchFamily="34" charset="0"/>
              </a:rPr>
              <a:t>Identify reasons </a:t>
            </a:r>
            <a:r>
              <a:rPr lang="en-US" altLang="en-US" sz="1200" dirty="0">
                <a:solidFill>
                  <a:schemeClr val="bg1">
                    <a:lumMod val="85000"/>
                  </a:schemeClr>
                </a:solidFill>
                <a:latin typeface="Arial" panose="020B0604020202020204" pitchFamily="34" charset="0"/>
              </a:rPr>
              <a:t>and </a:t>
            </a:r>
            <a:r>
              <a:rPr lang="en-US" altLang="en-US" sz="1200" dirty="0" smtClean="0">
                <a:solidFill>
                  <a:schemeClr val="bg1">
                    <a:lumMod val="85000"/>
                  </a:schemeClr>
                </a:solidFill>
                <a:latin typeface="Arial" panose="020B0604020202020204" pitchFamily="34" charset="0"/>
              </a:rPr>
              <a:t>gaps related to - </a:t>
            </a:r>
            <a:r>
              <a:rPr kumimoji="0" lang="en-US" altLang="en-US" sz="1200" b="0" i="0" u="none" strike="noStrike" cap="none" normalizeH="0" baseline="0" dirty="0" smtClean="0">
                <a:ln>
                  <a:noFill/>
                </a:ln>
                <a:solidFill>
                  <a:schemeClr val="bg1">
                    <a:lumMod val="85000"/>
                  </a:schemeClr>
                </a:solidFill>
                <a:effectLst/>
                <a:latin typeface="Arial" panose="020B0604020202020204" pitchFamily="34" charset="0"/>
              </a:rPr>
              <a:t>pricing</a:t>
            </a:r>
            <a:r>
              <a:rPr kumimoji="0" lang="en-US" altLang="en-US" sz="1200" b="0" i="0" u="none" strike="noStrike" cap="none" normalizeH="0" baseline="0" dirty="0" smtClean="0">
                <a:ln>
                  <a:noFill/>
                </a:ln>
                <a:solidFill>
                  <a:schemeClr val="bg1">
                    <a:lumMod val="85000"/>
                  </a:schemeClr>
                </a:solidFill>
                <a:effectLst/>
                <a:latin typeface="Arial" panose="020B0604020202020204" pitchFamily="34" charset="0"/>
              </a:rPr>
              <a:t>, features, and promotional strategy for the </a:t>
            </a:r>
            <a:r>
              <a:rPr kumimoji="0" lang="en-US" altLang="en-US" sz="1200" b="1" i="0" u="none" strike="noStrike" cap="none" normalizeH="0" baseline="0" dirty="0" smtClean="0">
                <a:ln>
                  <a:noFill/>
                </a:ln>
                <a:solidFill>
                  <a:schemeClr val="bg1">
                    <a:lumMod val="85000"/>
                  </a:schemeClr>
                </a:solidFill>
                <a:effectLst/>
                <a:latin typeface="Arial" panose="020B0604020202020204" pitchFamily="34" charset="0"/>
              </a:rPr>
              <a:t>lowest-performing model</a:t>
            </a:r>
            <a:r>
              <a:rPr kumimoji="0" lang="en-US" altLang="en-US" sz="1200" b="0" i="0" u="none" strike="noStrike" cap="none" normalizeH="0" baseline="0" dirty="0" smtClean="0">
                <a:ln>
                  <a:noFill/>
                </a:ln>
                <a:solidFill>
                  <a:schemeClr val="bg1">
                    <a:lumMod val="85000"/>
                  </a:schemeClr>
                </a:solidFill>
                <a:effectLst/>
                <a:latin typeface="Arial" panose="020B0604020202020204" pitchFamily="34" charset="0"/>
              </a:rPr>
              <a:t>. </a:t>
            </a:r>
          </a:p>
          <a:p>
            <a:pPr marL="0" marR="0" lvl="0" indent="0" algn="l" defTabSz="914400" rtl="0" eaLnBrk="0" fontAlgn="base" latinLnBrk="0" hangingPunct="0">
              <a:lnSpc>
                <a:spcPct val="150000"/>
              </a:lnSpc>
              <a:spcBef>
                <a:spcPct val="0"/>
              </a:spcBef>
              <a:spcAft>
                <a:spcPct val="0"/>
              </a:spcAft>
              <a:buClrTx/>
              <a:buSzTx/>
              <a:tabLst/>
            </a:pPr>
            <a:r>
              <a:rPr kumimoji="0" lang="en-US" altLang="en-US" sz="1200" b="0" i="0" u="none" strike="noStrike" cap="none" normalizeH="0" baseline="0" dirty="0" smtClean="0">
                <a:ln>
                  <a:noFill/>
                </a:ln>
                <a:solidFill>
                  <a:schemeClr val="bg1">
                    <a:lumMod val="85000"/>
                  </a:schemeClr>
                </a:solidFill>
                <a:effectLst/>
                <a:latin typeface="Arial" panose="020B0604020202020204" pitchFamily="34" charset="0"/>
              </a:rPr>
              <a:t>Analyze the factors behind </a:t>
            </a:r>
            <a:r>
              <a:rPr kumimoji="0" lang="en-US" altLang="en-US" sz="1200" b="1" i="0" u="none" strike="noStrike" cap="none" normalizeH="0" baseline="0" dirty="0" smtClean="0">
                <a:ln>
                  <a:noFill/>
                </a:ln>
                <a:solidFill>
                  <a:schemeClr val="bg1">
                    <a:lumMod val="85000"/>
                  </a:schemeClr>
                </a:solidFill>
                <a:effectLst/>
                <a:latin typeface="Arial" panose="020B0604020202020204" pitchFamily="34" charset="0"/>
              </a:rPr>
              <a:t>July's peak profitability</a:t>
            </a:r>
            <a:r>
              <a:rPr kumimoji="0" lang="en-US" altLang="en-US" sz="1200" b="0" i="0" u="none" strike="noStrike" cap="none" normalizeH="0" baseline="0" dirty="0" smtClean="0">
                <a:ln>
                  <a:noFill/>
                </a:ln>
                <a:solidFill>
                  <a:schemeClr val="bg1">
                    <a:lumMod val="85000"/>
                  </a:schemeClr>
                </a:solidFill>
                <a:effectLst/>
                <a:latin typeface="Arial" panose="020B0604020202020204" pitchFamily="34" charset="0"/>
              </a:rPr>
              <a:t> and </a:t>
            </a:r>
            <a:r>
              <a:rPr lang="en-US" altLang="en-US" sz="1200" dirty="0" smtClean="0">
                <a:solidFill>
                  <a:schemeClr val="bg1">
                    <a:lumMod val="85000"/>
                  </a:schemeClr>
                </a:solidFill>
                <a:latin typeface="Arial" panose="020B0604020202020204" pitchFamily="34" charset="0"/>
              </a:rPr>
              <a:t>repeat</a:t>
            </a:r>
            <a:r>
              <a:rPr kumimoji="0" lang="en-US" altLang="en-US" sz="1200" b="0" i="0" u="none" strike="noStrike" cap="none" normalizeH="0" baseline="0" dirty="0" smtClean="0">
                <a:ln>
                  <a:noFill/>
                </a:ln>
                <a:solidFill>
                  <a:schemeClr val="bg1">
                    <a:lumMod val="85000"/>
                  </a:schemeClr>
                </a:solidFill>
                <a:effectLst/>
                <a:latin typeface="Arial" panose="020B0604020202020204" pitchFamily="34" charset="0"/>
              </a:rPr>
              <a:t> successful campaigns </a:t>
            </a:r>
            <a:r>
              <a:rPr kumimoji="0" lang="en-US" altLang="en-US" sz="1200" b="0" i="0" u="none" strike="noStrike" cap="none" normalizeH="0" baseline="0" dirty="0" smtClean="0">
                <a:ln>
                  <a:noFill/>
                </a:ln>
                <a:solidFill>
                  <a:schemeClr val="bg1">
                    <a:lumMod val="85000"/>
                  </a:schemeClr>
                </a:solidFill>
                <a:effectLst/>
                <a:latin typeface="Arial" panose="020B0604020202020204" pitchFamily="34" charset="0"/>
              </a:rPr>
              <a:t>in other </a:t>
            </a:r>
            <a:r>
              <a:rPr kumimoji="0" lang="en-US" altLang="en-US" sz="1200" b="0" i="0" u="none" strike="noStrike" cap="none" normalizeH="0" baseline="0" dirty="0" smtClean="0">
                <a:ln>
                  <a:noFill/>
                </a:ln>
                <a:solidFill>
                  <a:schemeClr val="bg1">
                    <a:lumMod val="85000"/>
                  </a:schemeClr>
                </a:solidFill>
                <a:effectLst/>
                <a:latin typeface="Arial" panose="020B0604020202020204" pitchFamily="34" charset="0"/>
              </a:rPr>
              <a:t>months as well. </a:t>
            </a:r>
            <a:endParaRPr kumimoji="0" lang="en-US" altLang="en-US" sz="1200" b="0" i="0" u="none" strike="noStrike" cap="none" normalizeH="0" baseline="0" dirty="0" smtClean="0">
              <a:ln>
                <a:noFill/>
              </a:ln>
              <a:solidFill>
                <a:schemeClr val="bg1">
                  <a:lumMod val="85000"/>
                </a:schemeClr>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tabLst/>
            </a:pPr>
            <a:r>
              <a:rPr kumimoji="0" lang="en-US" altLang="en-US" sz="1200" b="0" i="0" u="none" strike="noStrike" cap="none" normalizeH="0" baseline="0" dirty="0" smtClean="0">
                <a:ln>
                  <a:noFill/>
                </a:ln>
                <a:solidFill>
                  <a:schemeClr val="bg1">
                    <a:lumMod val="85000"/>
                  </a:schemeClr>
                </a:solidFill>
                <a:effectLst/>
                <a:latin typeface="Arial" panose="020B0604020202020204" pitchFamily="34" charset="0"/>
              </a:rPr>
              <a:t>Maintain adequate inventory for </a:t>
            </a:r>
            <a:r>
              <a:rPr kumimoji="0" lang="en-US" altLang="en-US" sz="1200" b="1" i="0" u="none" strike="noStrike" cap="none" normalizeH="0" baseline="0" dirty="0" smtClean="0">
                <a:ln>
                  <a:noFill/>
                </a:ln>
                <a:solidFill>
                  <a:schemeClr val="bg1">
                    <a:lumMod val="85000"/>
                  </a:schemeClr>
                </a:solidFill>
                <a:effectLst/>
                <a:latin typeface="Arial" panose="020B0604020202020204" pitchFamily="34" charset="0"/>
              </a:rPr>
              <a:t>Diesel vehicles</a:t>
            </a:r>
            <a:r>
              <a:rPr kumimoji="0" lang="en-US" altLang="en-US" sz="1200" b="0" i="0" u="none" strike="noStrike" cap="none" normalizeH="0" baseline="0" dirty="0" smtClean="0">
                <a:ln>
                  <a:noFill/>
                </a:ln>
                <a:solidFill>
                  <a:schemeClr val="bg1">
                    <a:lumMod val="85000"/>
                  </a:schemeClr>
                </a:solidFill>
                <a:effectLst/>
                <a:latin typeface="Arial" panose="020B0604020202020204" pitchFamily="34" charset="0"/>
              </a:rPr>
              <a:t> </a:t>
            </a:r>
            <a:r>
              <a:rPr kumimoji="0" lang="en-US" altLang="en-US" sz="1200" b="0" i="0" u="none" strike="noStrike" cap="none" normalizeH="0" baseline="0" dirty="0" smtClean="0">
                <a:ln>
                  <a:noFill/>
                </a:ln>
                <a:solidFill>
                  <a:schemeClr val="bg1">
                    <a:lumMod val="85000"/>
                  </a:schemeClr>
                </a:solidFill>
                <a:effectLst/>
                <a:latin typeface="Arial" panose="020B0604020202020204" pitchFamily="34" charset="0"/>
              </a:rPr>
              <a:t>+</a:t>
            </a:r>
            <a:r>
              <a:rPr kumimoji="0" lang="en-US" altLang="en-US" sz="1200" b="0" i="0" u="none" strike="noStrike" cap="none" normalizeH="0" dirty="0" smtClean="0">
                <a:ln>
                  <a:noFill/>
                </a:ln>
                <a:solidFill>
                  <a:schemeClr val="bg1">
                    <a:lumMod val="85000"/>
                  </a:schemeClr>
                </a:solidFill>
                <a:effectLst/>
                <a:latin typeface="Arial" panose="020B0604020202020204" pitchFamily="34" charset="0"/>
              </a:rPr>
              <a:t> continuously </a:t>
            </a:r>
            <a:r>
              <a:rPr kumimoji="0" lang="en-US" altLang="en-US" sz="1200" b="0" i="0" u="none" strike="noStrike" cap="none" normalizeH="0" baseline="0" dirty="0" smtClean="0">
                <a:ln>
                  <a:noFill/>
                </a:ln>
                <a:solidFill>
                  <a:schemeClr val="bg1">
                    <a:lumMod val="85000"/>
                  </a:schemeClr>
                </a:solidFill>
                <a:effectLst/>
                <a:latin typeface="Arial" panose="020B0604020202020204" pitchFamily="34" charset="0"/>
              </a:rPr>
              <a:t>look after towards </a:t>
            </a:r>
            <a:r>
              <a:rPr kumimoji="0" lang="en-US" altLang="en-US" sz="1200" b="0" i="0" u="none" strike="noStrike" cap="none" normalizeH="0" baseline="0" dirty="0" smtClean="0">
                <a:ln>
                  <a:noFill/>
                </a:ln>
                <a:solidFill>
                  <a:schemeClr val="bg1">
                    <a:lumMod val="85000"/>
                  </a:schemeClr>
                </a:solidFill>
                <a:effectLst/>
                <a:latin typeface="Arial" panose="020B0604020202020204" pitchFamily="34" charset="0"/>
              </a:rPr>
              <a:t>the </a:t>
            </a:r>
            <a:r>
              <a:rPr kumimoji="0" lang="en-US" altLang="en-US" sz="1200" b="0" i="0" u="none" strike="noStrike" cap="none" normalizeH="0" baseline="0" dirty="0" smtClean="0">
                <a:ln>
                  <a:noFill/>
                </a:ln>
                <a:solidFill>
                  <a:schemeClr val="bg1">
                    <a:lumMod val="85000"/>
                  </a:schemeClr>
                </a:solidFill>
                <a:effectLst/>
                <a:latin typeface="Arial" panose="020B0604020202020204" pitchFamily="34" charset="0"/>
              </a:rPr>
              <a:t>transition </a:t>
            </a:r>
            <a:r>
              <a:rPr kumimoji="0" lang="en-US" altLang="en-US" sz="1200" b="0" i="0" u="none" strike="noStrike" cap="none" normalizeH="0" baseline="0" dirty="0" smtClean="0">
                <a:ln>
                  <a:noFill/>
                </a:ln>
                <a:solidFill>
                  <a:schemeClr val="bg1">
                    <a:lumMod val="85000"/>
                  </a:schemeClr>
                </a:solidFill>
                <a:effectLst/>
                <a:latin typeface="Arial" panose="020B0604020202020204" pitchFamily="34" charset="0"/>
              </a:rPr>
              <a:t>toward EV adoption. </a:t>
            </a:r>
          </a:p>
          <a:p>
            <a:pPr marL="0" marR="0" lvl="0" indent="0" algn="l" defTabSz="914400" rtl="0" eaLnBrk="0" fontAlgn="base" latinLnBrk="0" hangingPunct="0">
              <a:lnSpc>
                <a:spcPct val="150000"/>
              </a:lnSpc>
              <a:spcBef>
                <a:spcPct val="0"/>
              </a:spcBef>
              <a:spcAft>
                <a:spcPct val="0"/>
              </a:spcAft>
              <a:buClrTx/>
              <a:buSzTx/>
              <a:tabLst/>
            </a:pPr>
            <a:r>
              <a:rPr kumimoji="0" lang="en-US" altLang="en-US" sz="1200" b="0" i="0" u="none" strike="noStrike" cap="none" normalizeH="0" baseline="0" dirty="0" smtClean="0">
                <a:ln>
                  <a:noFill/>
                </a:ln>
                <a:solidFill>
                  <a:schemeClr val="bg1">
                    <a:lumMod val="85000"/>
                  </a:schemeClr>
                </a:solidFill>
                <a:effectLst/>
                <a:latin typeface="Arial" panose="020B0604020202020204" pitchFamily="34" charset="0"/>
              </a:rPr>
              <a:t>Focus </a:t>
            </a:r>
            <a:r>
              <a:rPr kumimoji="0" lang="en-US" altLang="en-US" sz="1200" b="0" i="0" u="none" strike="noStrike" cap="none" normalizeH="0" baseline="0" dirty="0" smtClean="0">
                <a:ln>
                  <a:noFill/>
                </a:ln>
                <a:solidFill>
                  <a:schemeClr val="bg1">
                    <a:lumMod val="85000"/>
                  </a:schemeClr>
                </a:solidFill>
                <a:effectLst/>
                <a:latin typeface="Arial" panose="020B0604020202020204" pitchFamily="34" charset="0"/>
              </a:rPr>
              <a:t>more on marketing </a:t>
            </a:r>
            <a:r>
              <a:rPr kumimoji="0" lang="en-US" altLang="en-US" sz="1200" b="0" i="0" u="none" strike="noStrike" cap="none" normalizeH="0" baseline="0" dirty="0" smtClean="0">
                <a:ln>
                  <a:noFill/>
                </a:ln>
                <a:solidFill>
                  <a:schemeClr val="bg1">
                    <a:lumMod val="85000"/>
                  </a:schemeClr>
                </a:solidFill>
                <a:effectLst/>
                <a:latin typeface="Arial" panose="020B0604020202020204" pitchFamily="34" charset="0"/>
              </a:rPr>
              <a:t>efforts </a:t>
            </a:r>
            <a:r>
              <a:rPr kumimoji="0" lang="en-US" altLang="en-US" sz="1200" b="0" i="0" u="none" strike="noStrike" cap="none" normalizeH="0" baseline="0" dirty="0" smtClean="0">
                <a:ln>
                  <a:noFill/>
                </a:ln>
                <a:solidFill>
                  <a:schemeClr val="bg1">
                    <a:lumMod val="85000"/>
                  </a:schemeClr>
                </a:solidFill>
                <a:effectLst/>
                <a:latin typeface="Arial" panose="020B0604020202020204" pitchFamily="34" charset="0"/>
              </a:rPr>
              <a:t>for </a:t>
            </a:r>
            <a:r>
              <a:rPr kumimoji="0" lang="en-US" altLang="en-US" sz="1200" b="1" i="0" u="none" strike="noStrike" cap="none" normalizeH="0" baseline="0" dirty="0" smtClean="0">
                <a:ln>
                  <a:noFill/>
                </a:ln>
                <a:solidFill>
                  <a:schemeClr val="bg1">
                    <a:lumMod val="85000"/>
                  </a:schemeClr>
                </a:solidFill>
                <a:effectLst/>
                <a:latin typeface="Arial" panose="020B0604020202020204" pitchFamily="34" charset="0"/>
              </a:rPr>
              <a:t>high-demand vehicle categories</a:t>
            </a:r>
            <a:r>
              <a:rPr kumimoji="0" lang="en-US" altLang="en-US" sz="1200" b="0" i="0" u="none" strike="noStrike" cap="none" normalizeH="0" baseline="0" dirty="0" smtClean="0">
                <a:ln>
                  <a:noFill/>
                </a:ln>
                <a:solidFill>
                  <a:schemeClr val="bg1">
                    <a:lumMod val="85000"/>
                  </a:schemeClr>
                </a:solidFill>
                <a:effectLst/>
                <a:latin typeface="Arial" panose="020B0604020202020204" pitchFamily="34" charset="0"/>
              </a:rPr>
              <a:t> to maximize revenue. </a:t>
            </a:r>
            <a:endParaRPr kumimoji="0" lang="en-US" altLang="en-US" sz="1200" b="0" i="0" u="none" strike="noStrike" cap="none" normalizeH="0" baseline="0" dirty="0" smtClean="0">
              <a:ln>
                <a:noFill/>
              </a:ln>
              <a:solidFill>
                <a:schemeClr val="bg1">
                  <a:lumMod val="85000"/>
                </a:schemeClr>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tabLst/>
            </a:pPr>
            <a:r>
              <a:rPr kumimoji="0" lang="en-US" altLang="en-US" sz="1200" b="0" i="0" u="none" strike="noStrike" cap="none" normalizeH="0" baseline="0" dirty="0" smtClean="0">
                <a:ln>
                  <a:noFill/>
                </a:ln>
                <a:solidFill>
                  <a:schemeClr val="bg1">
                    <a:lumMod val="85000"/>
                  </a:schemeClr>
                </a:solidFill>
                <a:effectLst/>
                <a:latin typeface="Arial" panose="020B0604020202020204" pitchFamily="34" charset="0"/>
              </a:rPr>
              <a:t>Optimize </a:t>
            </a:r>
            <a:r>
              <a:rPr kumimoji="0" lang="en-US" altLang="en-US" sz="1200" b="0" i="0" u="none" strike="noStrike" cap="none" normalizeH="0" baseline="0" dirty="0" smtClean="0">
                <a:ln>
                  <a:noFill/>
                </a:ln>
                <a:solidFill>
                  <a:schemeClr val="bg1">
                    <a:lumMod val="85000"/>
                  </a:schemeClr>
                </a:solidFill>
                <a:effectLst/>
                <a:latin typeface="Arial" panose="020B0604020202020204" pitchFamily="34" charset="0"/>
              </a:rPr>
              <a:t>production planning based on regional demand and seasonal sales trends. </a:t>
            </a:r>
          </a:p>
          <a:p>
            <a:pPr marL="0" marR="0" lvl="0" indent="0" algn="l" defTabSz="914400" rtl="0" eaLnBrk="0" fontAlgn="base" latinLnBrk="0" hangingPunct="0">
              <a:lnSpc>
                <a:spcPct val="150000"/>
              </a:lnSpc>
              <a:spcBef>
                <a:spcPct val="0"/>
              </a:spcBef>
              <a:spcAft>
                <a:spcPct val="0"/>
              </a:spcAft>
              <a:buClrTx/>
              <a:buSzTx/>
              <a:tabLst/>
            </a:pPr>
            <a:r>
              <a:rPr kumimoji="0" lang="en-US" altLang="en-US" sz="1200" b="0" i="0" u="none" strike="noStrike" cap="none" normalizeH="0" baseline="0" dirty="0" smtClean="0">
                <a:ln>
                  <a:noFill/>
                </a:ln>
                <a:solidFill>
                  <a:schemeClr val="bg1">
                    <a:lumMod val="85000"/>
                  </a:schemeClr>
                </a:solidFill>
                <a:effectLst/>
                <a:latin typeface="Arial" panose="020B0604020202020204" pitchFamily="34" charset="0"/>
              </a:rPr>
              <a:t>Introduce targeted promotional offers in </a:t>
            </a:r>
            <a:r>
              <a:rPr kumimoji="0" lang="en-US" altLang="en-US" sz="1200" b="1" i="0" u="none" strike="noStrike" cap="none" normalizeH="0" baseline="0" dirty="0" smtClean="0">
                <a:ln>
                  <a:noFill/>
                </a:ln>
                <a:solidFill>
                  <a:schemeClr val="bg1">
                    <a:lumMod val="85000"/>
                  </a:schemeClr>
                </a:solidFill>
                <a:effectLst/>
                <a:latin typeface="Arial" panose="020B0604020202020204" pitchFamily="34" charset="0"/>
              </a:rPr>
              <a:t>low-performing regions</a:t>
            </a:r>
            <a:r>
              <a:rPr kumimoji="0" lang="en-US" altLang="en-US" sz="1200" b="0" i="0" u="none" strike="noStrike" cap="none" normalizeH="0" baseline="0" dirty="0" smtClean="0">
                <a:ln>
                  <a:noFill/>
                </a:ln>
                <a:solidFill>
                  <a:schemeClr val="bg1">
                    <a:lumMod val="85000"/>
                  </a:schemeClr>
                </a:solidFill>
                <a:effectLst/>
                <a:latin typeface="Arial" panose="020B0604020202020204" pitchFamily="34" charset="0"/>
              </a:rPr>
              <a:t> to improve sales. </a:t>
            </a:r>
          </a:p>
          <a:p>
            <a:pPr lvl="0" eaLnBrk="0" fontAlgn="base" hangingPunct="0">
              <a:lnSpc>
                <a:spcPct val="150000"/>
              </a:lnSpc>
              <a:spcBef>
                <a:spcPct val="0"/>
              </a:spcBef>
              <a:spcAft>
                <a:spcPct val="0"/>
              </a:spcAft>
            </a:pPr>
            <a:r>
              <a:rPr kumimoji="0" lang="en-US" altLang="en-US" sz="1200" b="0" i="0" u="none" strike="noStrike" cap="none" normalizeH="0" baseline="0" dirty="0" smtClean="0">
                <a:ln>
                  <a:noFill/>
                </a:ln>
                <a:solidFill>
                  <a:schemeClr val="bg1">
                    <a:lumMod val="85000"/>
                  </a:schemeClr>
                </a:solidFill>
                <a:effectLst/>
                <a:latin typeface="Arial" panose="020B0604020202020204" pitchFamily="34" charset="0"/>
              </a:rPr>
              <a:t>Continuously monitor </a:t>
            </a:r>
            <a:r>
              <a:rPr lang="en-US" altLang="en-US" sz="1200" dirty="0" smtClean="0">
                <a:solidFill>
                  <a:schemeClr val="bg1">
                    <a:lumMod val="85000"/>
                  </a:schemeClr>
                </a:solidFill>
                <a:latin typeface="Arial" panose="020B0604020202020204" pitchFamily="34" charset="0"/>
              </a:rPr>
              <a:t>ongoin</a:t>
            </a:r>
            <a:r>
              <a:rPr lang="en-US" altLang="en-US" sz="1200" dirty="0">
                <a:solidFill>
                  <a:schemeClr val="bg1">
                    <a:lumMod val="85000"/>
                  </a:schemeClr>
                </a:solidFill>
                <a:latin typeface="Arial" panose="020B0604020202020204" pitchFamily="34" charset="0"/>
              </a:rPr>
              <a:t>g</a:t>
            </a:r>
            <a:r>
              <a:rPr lang="en-US" altLang="en-US" sz="1200" dirty="0" smtClean="0">
                <a:solidFill>
                  <a:schemeClr val="bg1">
                    <a:lumMod val="85000"/>
                  </a:schemeClr>
                </a:solidFill>
                <a:latin typeface="Arial" panose="020B0604020202020204" pitchFamily="34" charset="0"/>
              </a:rPr>
              <a:t> </a:t>
            </a:r>
            <a:r>
              <a:rPr kumimoji="0" lang="en-US" altLang="en-US" sz="1200" b="0" i="0" u="none" strike="noStrike" cap="none" normalizeH="0" baseline="0" dirty="0" smtClean="0">
                <a:ln>
                  <a:noFill/>
                </a:ln>
                <a:solidFill>
                  <a:schemeClr val="bg1">
                    <a:lumMod val="85000"/>
                  </a:schemeClr>
                </a:solidFill>
                <a:effectLst/>
                <a:latin typeface="Arial" panose="020B0604020202020204" pitchFamily="34" charset="0"/>
              </a:rPr>
              <a:t>trends and customer preferences </a:t>
            </a:r>
            <a:r>
              <a:rPr kumimoji="0" lang="en-US" altLang="en-US" sz="1200" b="0" i="0" u="none" strike="noStrike" cap="none" normalizeH="0" baseline="0" dirty="0" smtClean="0">
                <a:ln>
                  <a:noFill/>
                </a:ln>
                <a:solidFill>
                  <a:schemeClr val="bg1">
                    <a:lumMod val="85000"/>
                  </a:schemeClr>
                </a:solidFill>
                <a:effectLst/>
                <a:latin typeface="Arial" panose="020B0604020202020204" pitchFamily="34" charset="0"/>
              </a:rPr>
              <a:t>to</a:t>
            </a:r>
            <a:r>
              <a:rPr kumimoji="0" lang="en-US" altLang="en-US" sz="1200" b="0" i="0" u="none" strike="noStrike" cap="none" normalizeH="0" dirty="0" smtClean="0">
                <a:ln>
                  <a:noFill/>
                </a:ln>
                <a:solidFill>
                  <a:schemeClr val="bg1">
                    <a:lumMod val="85000"/>
                  </a:schemeClr>
                </a:solidFill>
                <a:effectLst/>
                <a:latin typeface="Arial" panose="020B0604020202020204" pitchFamily="34" charset="0"/>
              </a:rPr>
              <a:t> tailor overall operations.</a:t>
            </a:r>
            <a:endParaRPr kumimoji="0" lang="en-US" altLang="en-US" sz="1200" b="0" i="0" u="none" strike="noStrike" cap="none" normalizeH="0" baseline="0" dirty="0" smtClean="0">
              <a:ln>
                <a:noFill/>
              </a:ln>
              <a:solidFill>
                <a:schemeClr val="bg1">
                  <a:lumMod val="85000"/>
                </a:schemeClr>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tabLst/>
            </a:pPr>
            <a:r>
              <a:rPr kumimoji="0" lang="en-US" altLang="en-US" sz="1200" b="0" i="0" u="none" strike="noStrike" cap="none" normalizeH="0" baseline="0" dirty="0" smtClean="0">
                <a:ln>
                  <a:noFill/>
                </a:ln>
                <a:solidFill>
                  <a:schemeClr val="bg1">
                    <a:lumMod val="85000"/>
                  </a:schemeClr>
                </a:solidFill>
                <a:effectLst/>
                <a:latin typeface="Arial" panose="020B0604020202020204" pitchFamily="34" charset="0"/>
              </a:rPr>
              <a:t>Improve forecasting using historical sales and profit patterns to optimize inventory and supply chain operations. </a:t>
            </a:r>
          </a:p>
        </p:txBody>
      </p:sp>
      <p:pic>
        <p:nvPicPr>
          <p:cNvPr id="5" name="Image 1" descr="preencoded.png"/>
          <p:cNvPicPr>
            <a:picLocks noChangeAspect="1"/>
          </p:cNvPicPr>
          <p:nvPr/>
        </p:nvPicPr>
        <p:blipFill>
          <a:blip r:embed="rId2">
            <a:extLst>
              <a:ext uri="{96DAC541-7B7A-43D3-8B79-37D633B846F1}">
                <asvg:svgBlip xmlns:asvg="http://schemas.microsoft.com/office/drawing/2016/SVG/main" xmlns="" r:embed="rId5"/>
              </a:ext>
            </a:extLst>
          </a:blip>
          <a:stretch>
            <a:fillRect/>
          </a:stretch>
        </p:blipFill>
        <p:spPr>
          <a:xfrm>
            <a:off x="635387" y="1304584"/>
            <a:ext cx="174427" cy="174427"/>
          </a:xfrm>
          <a:prstGeom prst="rect">
            <a:avLst/>
          </a:prstGeom>
        </p:spPr>
      </p:pic>
      <p:pic>
        <p:nvPicPr>
          <p:cNvPr id="6" name="Image 1" descr="preencoded.png"/>
          <p:cNvPicPr>
            <a:picLocks noChangeAspect="1"/>
          </p:cNvPicPr>
          <p:nvPr/>
        </p:nvPicPr>
        <p:blipFill>
          <a:blip r:embed="rId2">
            <a:extLst>
              <a:ext uri="{96DAC541-7B7A-43D3-8B79-37D633B846F1}">
                <asvg:svgBlip xmlns:asvg="http://schemas.microsoft.com/office/drawing/2016/SVG/main" xmlns="" r:embed="rId5"/>
              </a:ext>
            </a:extLst>
          </a:blip>
          <a:stretch>
            <a:fillRect/>
          </a:stretch>
        </p:blipFill>
        <p:spPr>
          <a:xfrm>
            <a:off x="634861" y="1586835"/>
            <a:ext cx="174427" cy="174427"/>
          </a:xfrm>
          <a:prstGeom prst="rect">
            <a:avLst/>
          </a:prstGeom>
        </p:spPr>
      </p:pic>
      <p:pic>
        <p:nvPicPr>
          <p:cNvPr id="7" name="Image 1" descr="preencoded.png"/>
          <p:cNvPicPr>
            <a:picLocks noChangeAspect="1"/>
          </p:cNvPicPr>
          <p:nvPr/>
        </p:nvPicPr>
        <p:blipFill>
          <a:blip r:embed="rId2">
            <a:extLst>
              <a:ext uri="{96DAC541-7B7A-43D3-8B79-37D633B846F1}">
                <asvg:svgBlip xmlns:asvg="http://schemas.microsoft.com/office/drawing/2016/SVG/main" xmlns="" r:embed="rId5"/>
              </a:ext>
            </a:extLst>
          </a:blip>
          <a:stretch>
            <a:fillRect/>
          </a:stretch>
        </p:blipFill>
        <p:spPr>
          <a:xfrm>
            <a:off x="630813" y="1865372"/>
            <a:ext cx="174427" cy="174427"/>
          </a:xfrm>
          <a:prstGeom prst="rect">
            <a:avLst/>
          </a:prstGeom>
        </p:spPr>
      </p:pic>
      <p:pic>
        <p:nvPicPr>
          <p:cNvPr id="8" name="Image 1" descr="preencoded.png"/>
          <p:cNvPicPr>
            <a:picLocks noChangeAspect="1"/>
          </p:cNvPicPr>
          <p:nvPr/>
        </p:nvPicPr>
        <p:blipFill>
          <a:blip r:embed="rId2">
            <a:extLst>
              <a:ext uri="{96DAC541-7B7A-43D3-8B79-37D633B846F1}">
                <asvg:svgBlip xmlns:asvg="http://schemas.microsoft.com/office/drawing/2016/SVG/main" xmlns="" r:embed="rId5"/>
              </a:ext>
            </a:extLst>
          </a:blip>
          <a:stretch>
            <a:fillRect/>
          </a:stretch>
        </p:blipFill>
        <p:spPr>
          <a:xfrm>
            <a:off x="636165" y="2123136"/>
            <a:ext cx="174427" cy="174427"/>
          </a:xfrm>
          <a:prstGeom prst="rect">
            <a:avLst/>
          </a:prstGeom>
        </p:spPr>
      </p:pic>
      <p:pic>
        <p:nvPicPr>
          <p:cNvPr id="9" name="Image 1" descr="preencoded.png"/>
          <p:cNvPicPr>
            <a:picLocks noChangeAspect="1"/>
          </p:cNvPicPr>
          <p:nvPr/>
        </p:nvPicPr>
        <p:blipFill>
          <a:blip r:embed="rId2">
            <a:extLst>
              <a:ext uri="{96DAC541-7B7A-43D3-8B79-37D633B846F1}">
                <asvg:svgBlip xmlns:asvg="http://schemas.microsoft.com/office/drawing/2016/SVG/main" xmlns="" r:embed="rId5"/>
              </a:ext>
            </a:extLst>
          </a:blip>
          <a:stretch>
            <a:fillRect/>
          </a:stretch>
        </p:blipFill>
        <p:spPr>
          <a:xfrm>
            <a:off x="636165" y="2399317"/>
            <a:ext cx="174427" cy="174427"/>
          </a:xfrm>
          <a:prstGeom prst="rect">
            <a:avLst/>
          </a:prstGeom>
        </p:spPr>
      </p:pic>
      <p:pic>
        <p:nvPicPr>
          <p:cNvPr id="10" name="Image 1" descr="preencoded.png"/>
          <p:cNvPicPr>
            <a:picLocks noChangeAspect="1"/>
          </p:cNvPicPr>
          <p:nvPr/>
        </p:nvPicPr>
        <p:blipFill>
          <a:blip r:embed="rId2">
            <a:extLst>
              <a:ext uri="{96DAC541-7B7A-43D3-8B79-37D633B846F1}">
                <asvg:svgBlip xmlns:asvg="http://schemas.microsoft.com/office/drawing/2016/SVG/main" xmlns="" r:embed="rId5"/>
              </a:ext>
            </a:extLst>
          </a:blip>
          <a:stretch>
            <a:fillRect/>
          </a:stretch>
        </p:blipFill>
        <p:spPr>
          <a:xfrm>
            <a:off x="627598" y="2669489"/>
            <a:ext cx="174427" cy="174427"/>
          </a:xfrm>
          <a:prstGeom prst="rect">
            <a:avLst/>
          </a:prstGeom>
        </p:spPr>
      </p:pic>
      <p:pic>
        <p:nvPicPr>
          <p:cNvPr id="11" name="Image 1" descr="preencoded.png"/>
          <p:cNvPicPr>
            <a:picLocks noChangeAspect="1"/>
          </p:cNvPicPr>
          <p:nvPr/>
        </p:nvPicPr>
        <p:blipFill>
          <a:blip r:embed="rId2">
            <a:extLst>
              <a:ext uri="{96DAC541-7B7A-43D3-8B79-37D633B846F1}">
                <asvg:svgBlip xmlns:asvg="http://schemas.microsoft.com/office/drawing/2016/SVG/main" xmlns="" r:embed="rId5"/>
              </a:ext>
            </a:extLst>
          </a:blip>
          <a:stretch>
            <a:fillRect/>
          </a:stretch>
        </p:blipFill>
        <p:spPr>
          <a:xfrm>
            <a:off x="627042" y="2941432"/>
            <a:ext cx="174427" cy="174427"/>
          </a:xfrm>
          <a:prstGeom prst="rect">
            <a:avLst/>
          </a:prstGeom>
        </p:spPr>
      </p:pic>
      <p:pic>
        <p:nvPicPr>
          <p:cNvPr id="12" name="Image 1" descr="preencoded.png"/>
          <p:cNvPicPr>
            <a:picLocks noChangeAspect="1"/>
          </p:cNvPicPr>
          <p:nvPr/>
        </p:nvPicPr>
        <p:blipFill>
          <a:blip r:embed="rId2">
            <a:extLst>
              <a:ext uri="{96DAC541-7B7A-43D3-8B79-37D633B846F1}">
                <asvg:svgBlip xmlns:asvg="http://schemas.microsoft.com/office/drawing/2016/SVG/main" xmlns="" r:embed="rId5"/>
              </a:ext>
            </a:extLst>
          </a:blip>
          <a:stretch>
            <a:fillRect/>
          </a:stretch>
        </p:blipFill>
        <p:spPr>
          <a:xfrm>
            <a:off x="626764" y="3495818"/>
            <a:ext cx="174427" cy="174427"/>
          </a:xfrm>
          <a:prstGeom prst="rect">
            <a:avLst/>
          </a:prstGeom>
        </p:spPr>
      </p:pic>
      <p:pic>
        <p:nvPicPr>
          <p:cNvPr id="13" name="Image 1" descr="preencoded.png"/>
          <p:cNvPicPr>
            <a:picLocks noChangeAspect="1"/>
          </p:cNvPicPr>
          <p:nvPr/>
        </p:nvPicPr>
        <p:blipFill>
          <a:blip r:embed="rId2">
            <a:extLst>
              <a:ext uri="{96DAC541-7B7A-43D3-8B79-37D633B846F1}">
                <asvg:svgBlip xmlns:asvg="http://schemas.microsoft.com/office/drawing/2016/SVG/main" xmlns="" r:embed="rId5"/>
              </a:ext>
            </a:extLst>
          </a:blip>
          <a:stretch>
            <a:fillRect/>
          </a:stretch>
        </p:blipFill>
        <p:spPr>
          <a:xfrm>
            <a:off x="634861" y="3218625"/>
            <a:ext cx="174427" cy="174427"/>
          </a:xfrm>
          <a:prstGeom prst="rect">
            <a:avLst/>
          </a:prstGeom>
        </p:spPr>
      </p:pic>
      <p:pic>
        <p:nvPicPr>
          <p:cNvPr id="14" name="Image 1" descr="preencoded.png"/>
          <p:cNvPicPr>
            <a:picLocks noChangeAspect="1"/>
          </p:cNvPicPr>
          <p:nvPr/>
        </p:nvPicPr>
        <p:blipFill>
          <a:blip r:embed="rId2">
            <a:extLst>
              <a:ext uri="{96DAC541-7B7A-43D3-8B79-37D633B846F1}">
                <asvg:svgBlip xmlns:asvg="http://schemas.microsoft.com/office/drawing/2016/SVG/main" xmlns="" r:embed="rId5"/>
              </a:ext>
            </a:extLst>
          </a:blip>
          <a:stretch>
            <a:fillRect/>
          </a:stretch>
        </p:blipFill>
        <p:spPr>
          <a:xfrm>
            <a:off x="636165" y="3771621"/>
            <a:ext cx="174427" cy="174427"/>
          </a:xfrm>
          <a:prstGeom prst="rect">
            <a:avLst/>
          </a:prstGeom>
        </p:spPr>
      </p:pic>
      <p:pic>
        <p:nvPicPr>
          <p:cNvPr id="15" name="Image 1" descr="preencoded.png"/>
          <p:cNvPicPr>
            <a:picLocks noChangeAspect="1"/>
          </p:cNvPicPr>
          <p:nvPr/>
        </p:nvPicPr>
        <p:blipFill>
          <a:blip r:embed="rId2">
            <a:extLst>
              <a:ext uri="{96DAC541-7B7A-43D3-8B79-37D633B846F1}">
                <asvg:svgBlip xmlns:asvg="http://schemas.microsoft.com/office/drawing/2016/SVG/main" xmlns="" r:embed="rId5"/>
              </a:ext>
            </a:extLst>
          </a:blip>
          <a:stretch>
            <a:fillRect/>
          </a:stretch>
        </p:blipFill>
        <p:spPr>
          <a:xfrm>
            <a:off x="627042" y="4053441"/>
            <a:ext cx="174427" cy="174427"/>
          </a:xfrm>
          <a:prstGeom prst="rect">
            <a:avLst/>
          </a:prstGeom>
        </p:spPr>
      </p:pic>
      <p:sp>
        <p:nvSpPr>
          <p:cNvPr id="17" name="Rounded Rectangle 16"/>
          <p:cNvSpPr/>
          <p:nvPr/>
        </p:nvSpPr>
        <p:spPr>
          <a:xfrm>
            <a:off x="8052816" y="4870704"/>
            <a:ext cx="1030224" cy="213360"/>
          </a:xfrm>
          <a:prstGeom prst="roundRect">
            <a:avLst/>
          </a:prstGeom>
          <a:solidFill>
            <a:srgbClr val="000019"/>
          </a:solidFill>
          <a:ln>
            <a:solidFill>
              <a:srgbClr val="0000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2126033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799419"/>
            <a:ext cx="2224391" cy="3336587"/>
          </a:xfrm>
          <a:prstGeom prst="rect">
            <a:avLst/>
          </a:prstGeom>
        </p:spPr>
      </p:pic>
      <p:sp>
        <p:nvSpPr>
          <p:cNvPr id="3" name="Text 0"/>
          <p:cNvSpPr/>
          <p:nvPr/>
        </p:nvSpPr>
        <p:spPr>
          <a:xfrm>
            <a:off x="3925119" y="444103"/>
            <a:ext cx="4722763" cy="172641"/>
          </a:xfrm>
          <a:prstGeom prst="rect">
            <a:avLst/>
          </a:prstGeom>
          <a:noFill/>
          <a:ln/>
        </p:spPr>
        <p:txBody>
          <a:bodyPr wrap="none" lIns="0" tIns="0" rIns="0" bIns="0" rtlCol="0" anchor="t"/>
          <a:lstStyle/>
          <a:p>
            <a:pPr marL="0" indent="0" algn="l">
              <a:lnSpc>
                <a:spcPct val="104000"/>
              </a:lnSpc>
              <a:buNone/>
            </a:pPr>
            <a:r>
              <a:rPr lang="en-US" sz="1050" dirty="0">
                <a:solidFill>
                  <a:srgbClr val="FFFFFF"/>
                </a:solidFill>
                <a:latin typeface="Roboto Medium" pitchFamily="34" charset="0"/>
                <a:ea typeface="Roboto Medium" pitchFamily="34" charset="-122"/>
                <a:cs typeface="Roboto Medium" pitchFamily="34" charset="-120"/>
              </a:rPr>
              <a:t>Conclusion</a:t>
            </a:r>
            <a:endParaRPr lang="en-US" sz="1050" dirty="0"/>
          </a:p>
        </p:txBody>
      </p:sp>
      <p:sp>
        <p:nvSpPr>
          <p:cNvPr id="4" name="Text 1"/>
          <p:cNvSpPr/>
          <p:nvPr/>
        </p:nvSpPr>
        <p:spPr>
          <a:xfrm>
            <a:off x="3925119" y="656034"/>
            <a:ext cx="4722763" cy="690562"/>
          </a:xfrm>
          <a:prstGeom prst="rect">
            <a:avLst/>
          </a:prstGeom>
          <a:noFill/>
          <a:ln/>
        </p:spPr>
        <p:txBody>
          <a:bodyPr wrap="square" lIns="0" tIns="0" rIns="0" bIns="0" rtlCol="0" anchor="t">
            <a:normAutofit/>
          </a:bodyPr>
          <a:lstStyle/>
          <a:p>
            <a:pPr marL="0" indent="0" algn="l">
              <a:lnSpc>
                <a:spcPct val="104000"/>
              </a:lnSpc>
              <a:buNone/>
            </a:pPr>
            <a:r>
              <a:rPr lang="en-US" sz="2150" dirty="0">
                <a:solidFill>
                  <a:srgbClr val="FFFFFF"/>
                </a:solidFill>
                <a:latin typeface="Roboto Medium" pitchFamily="34" charset="0"/>
                <a:ea typeface="Roboto Medium" pitchFamily="34" charset="-122"/>
                <a:cs typeface="Roboto Medium" pitchFamily="34" charset="-120"/>
              </a:rPr>
              <a:t>Business Intelligence Driving Mercedes-Benz Forward</a:t>
            </a:r>
            <a:endParaRPr lang="en-US" sz="2150" dirty="0"/>
          </a:p>
        </p:txBody>
      </p:sp>
      <p:sp>
        <p:nvSpPr>
          <p:cNvPr id="5" name="Text 2"/>
          <p:cNvSpPr/>
          <p:nvPr/>
        </p:nvSpPr>
        <p:spPr>
          <a:xfrm>
            <a:off x="3925119" y="1494160"/>
            <a:ext cx="4722763" cy="1002804"/>
          </a:xfrm>
          <a:prstGeom prst="rect">
            <a:avLst/>
          </a:prstGeom>
          <a:noFill/>
          <a:ln/>
        </p:spPr>
        <p:txBody>
          <a:bodyPr wrap="square" lIns="0" tIns="0" rIns="0" bIns="0" rtlCol="0" anchor="t">
            <a:normAutofit/>
          </a:bodyPr>
          <a:lstStyle/>
          <a:p>
            <a:pPr marL="0" indent="0" algn="l">
              <a:lnSpc>
                <a:spcPct val="126000"/>
              </a:lnSpc>
              <a:buNone/>
            </a:pPr>
            <a:r>
              <a:rPr lang="en-US" sz="850" dirty="0">
                <a:solidFill>
                  <a:srgbClr val="CFD0D8"/>
                </a:solidFill>
                <a:latin typeface="Roboto" pitchFamily="34" charset="0"/>
                <a:ea typeface="Roboto" pitchFamily="34" charset="-122"/>
                <a:cs typeface="Roboto" pitchFamily="34" charset="-120"/>
              </a:rPr>
              <a:t>This project demonstrates how a structured, end-to-end analytics pipeline — combining Python, MySQL, and Power BI — can transform raw automotive sales data into actionable strategic intelligence. By addressing critical gaps in customer insight, market segmentation, regional performance, and financial forecasting, the analysis equips Mercedes-Benz decision-makers with the clarity needed to optimize manufacturing, target the right segments, and scale profitability across global markets heading into 2026 and beyond.</a:t>
            </a:r>
            <a:endParaRPr lang="en-US" sz="850" dirty="0"/>
          </a:p>
        </p:txBody>
      </p:sp>
      <p:sp>
        <p:nvSpPr>
          <p:cNvPr id="6" name="Text 3"/>
          <p:cNvSpPr/>
          <p:nvPr/>
        </p:nvSpPr>
        <p:spPr>
          <a:xfrm>
            <a:off x="3925119" y="2662833"/>
            <a:ext cx="2299915" cy="364554"/>
          </a:xfrm>
          <a:prstGeom prst="rect">
            <a:avLst/>
          </a:prstGeom>
          <a:noFill/>
          <a:ln/>
        </p:spPr>
        <p:txBody>
          <a:bodyPr wrap="none" lIns="0" tIns="0" rIns="0" bIns="0" rtlCol="0" anchor="t"/>
          <a:lstStyle/>
          <a:p>
            <a:pPr marL="0" indent="0" algn="ctr">
              <a:lnSpc>
                <a:spcPct val="83000"/>
              </a:lnSpc>
              <a:buNone/>
            </a:pPr>
            <a:r>
              <a:rPr lang="en-US" sz="2850" dirty="0">
                <a:solidFill>
                  <a:srgbClr val="CFD0D8"/>
                </a:solidFill>
                <a:latin typeface="Roboto Medium" pitchFamily="34" charset="0"/>
                <a:ea typeface="Roboto Medium" pitchFamily="34" charset="-122"/>
                <a:cs typeface="Roboto Medium" pitchFamily="34" charset="-120"/>
              </a:rPr>
              <a:t>5</a:t>
            </a:r>
            <a:endParaRPr lang="en-US" sz="2850" dirty="0"/>
          </a:p>
        </p:txBody>
      </p:sp>
      <p:sp>
        <p:nvSpPr>
          <p:cNvPr id="7" name="Text 4"/>
          <p:cNvSpPr/>
          <p:nvPr/>
        </p:nvSpPr>
        <p:spPr>
          <a:xfrm>
            <a:off x="3925119" y="3156347"/>
            <a:ext cx="2299915" cy="172641"/>
          </a:xfrm>
          <a:prstGeom prst="rect">
            <a:avLst/>
          </a:prstGeom>
          <a:noFill/>
          <a:ln/>
        </p:spPr>
        <p:txBody>
          <a:bodyPr wrap="none" lIns="0" tIns="0" rIns="0" bIns="0" rtlCol="0" anchor="t"/>
          <a:lstStyle/>
          <a:p>
            <a:pPr marL="0" indent="0" algn="ctr">
              <a:lnSpc>
                <a:spcPct val="104000"/>
              </a:lnSpc>
              <a:buNone/>
            </a:pPr>
            <a:r>
              <a:rPr lang="en-US" sz="1050" dirty="0">
                <a:solidFill>
                  <a:srgbClr val="CFD0D8"/>
                </a:solidFill>
                <a:latin typeface="Roboto Medium" pitchFamily="34" charset="0"/>
                <a:ea typeface="Roboto Medium" pitchFamily="34" charset="-122"/>
                <a:cs typeface="Roboto Medium" pitchFamily="34" charset="-120"/>
              </a:rPr>
              <a:t>Data Tables</a:t>
            </a:r>
            <a:endParaRPr lang="en-US" sz="1050" dirty="0"/>
          </a:p>
        </p:txBody>
      </p:sp>
      <p:sp>
        <p:nvSpPr>
          <p:cNvPr id="8" name="Text 5"/>
          <p:cNvSpPr/>
          <p:nvPr/>
        </p:nvSpPr>
        <p:spPr>
          <a:xfrm>
            <a:off x="3925119" y="3387998"/>
            <a:ext cx="2299915" cy="167134"/>
          </a:xfrm>
          <a:prstGeom prst="rect">
            <a:avLst/>
          </a:prstGeom>
          <a:noFill/>
          <a:ln/>
        </p:spPr>
        <p:txBody>
          <a:bodyPr wrap="none" lIns="0" tIns="0" rIns="0" bIns="0" rtlCol="0" anchor="t"/>
          <a:lstStyle/>
          <a:p>
            <a:pPr marL="0" indent="0" algn="ctr">
              <a:lnSpc>
                <a:spcPct val="126000"/>
              </a:lnSpc>
              <a:buNone/>
            </a:pPr>
            <a:r>
              <a:rPr lang="en-US" sz="850" dirty="0">
                <a:solidFill>
                  <a:srgbClr val="CFD0D8"/>
                </a:solidFill>
                <a:latin typeface="Roboto" pitchFamily="34" charset="0"/>
                <a:ea typeface="Roboto" pitchFamily="34" charset="-122"/>
                <a:cs typeface="Roboto" pitchFamily="34" charset="-120"/>
              </a:rPr>
              <a:t>Integrated across the full analytics pipeline</a:t>
            </a:r>
            <a:endParaRPr lang="en-US" sz="850" dirty="0"/>
          </a:p>
        </p:txBody>
      </p:sp>
      <p:sp>
        <p:nvSpPr>
          <p:cNvPr id="9" name="Text 6"/>
          <p:cNvSpPr/>
          <p:nvPr/>
        </p:nvSpPr>
        <p:spPr>
          <a:xfrm>
            <a:off x="6347966" y="2662833"/>
            <a:ext cx="2299915" cy="364554"/>
          </a:xfrm>
          <a:prstGeom prst="rect">
            <a:avLst/>
          </a:prstGeom>
          <a:noFill/>
          <a:ln/>
        </p:spPr>
        <p:txBody>
          <a:bodyPr wrap="none" lIns="0" tIns="0" rIns="0" bIns="0" rtlCol="0" anchor="t"/>
          <a:lstStyle/>
          <a:p>
            <a:pPr marL="0" indent="0" algn="ctr">
              <a:lnSpc>
                <a:spcPct val="83000"/>
              </a:lnSpc>
              <a:buNone/>
            </a:pPr>
            <a:r>
              <a:rPr lang="en-US" sz="2850" dirty="0">
                <a:solidFill>
                  <a:srgbClr val="CFD0D8"/>
                </a:solidFill>
                <a:latin typeface="Roboto Medium" pitchFamily="34" charset="0"/>
                <a:ea typeface="Roboto Medium" pitchFamily="34" charset="-122"/>
              </a:rPr>
              <a:t>3</a:t>
            </a:r>
            <a:endParaRPr lang="en-US" sz="2850" dirty="0"/>
          </a:p>
        </p:txBody>
      </p:sp>
      <p:sp>
        <p:nvSpPr>
          <p:cNvPr id="10" name="Text 7"/>
          <p:cNvSpPr/>
          <p:nvPr/>
        </p:nvSpPr>
        <p:spPr>
          <a:xfrm>
            <a:off x="6347966" y="3156347"/>
            <a:ext cx="2299915" cy="172641"/>
          </a:xfrm>
          <a:prstGeom prst="rect">
            <a:avLst/>
          </a:prstGeom>
          <a:noFill/>
          <a:ln/>
        </p:spPr>
        <p:txBody>
          <a:bodyPr wrap="none" lIns="0" tIns="0" rIns="0" bIns="0" rtlCol="0" anchor="t"/>
          <a:lstStyle/>
          <a:p>
            <a:pPr marL="0" indent="0" algn="ctr">
              <a:lnSpc>
                <a:spcPct val="104000"/>
              </a:lnSpc>
              <a:buNone/>
            </a:pPr>
            <a:r>
              <a:rPr lang="en-US" sz="1050" dirty="0">
                <a:solidFill>
                  <a:srgbClr val="CFD0D8"/>
                </a:solidFill>
                <a:latin typeface="Roboto Medium" pitchFamily="34" charset="0"/>
                <a:ea typeface="Roboto Medium" pitchFamily="34" charset="-122"/>
                <a:cs typeface="Roboto Medium" pitchFamily="34" charset="-120"/>
              </a:rPr>
              <a:t>Tool Layers</a:t>
            </a:r>
            <a:endParaRPr lang="en-US" sz="1050" dirty="0"/>
          </a:p>
        </p:txBody>
      </p:sp>
      <p:sp>
        <p:nvSpPr>
          <p:cNvPr id="11" name="Text 8"/>
          <p:cNvSpPr/>
          <p:nvPr/>
        </p:nvSpPr>
        <p:spPr>
          <a:xfrm>
            <a:off x="6347966" y="3387998"/>
            <a:ext cx="2299915" cy="167134"/>
          </a:xfrm>
          <a:prstGeom prst="rect">
            <a:avLst/>
          </a:prstGeom>
          <a:noFill/>
          <a:ln/>
        </p:spPr>
        <p:txBody>
          <a:bodyPr wrap="none" lIns="0" tIns="0" rIns="0" bIns="0" rtlCol="0" anchor="t"/>
          <a:lstStyle/>
          <a:p>
            <a:pPr marL="0" indent="0" algn="ctr">
              <a:lnSpc>
                <a:spcPct val="126000"/>
              </a:lnSpc>
              <a:buNone/>
            </a:pPr>
            <a:r>
              <a:rPr lang="en-US" sz="850" dirty="0">
                <a:solidFill>
                  <a:srgbClr val="CFD0D8"/>
                </a:solidFill>
                <a:latin typeface="Roboto" pitchFamily="34" charset="0"/>
                <a:ea typeface="Roboto" pitchFamily="34" charset="-122"/>
                <a:cs typeface="Roboto" pitchFamily="34" charset="-120"/>
              </a:rPr>
              <a:t>Python → </a:t>
            </a:r>
            <a:r>
              <a:rPr lang="en-US" sz="850" dirty="0" smtClean="0">
                <a:solidFill>
                  <a:srgbClr val="CFD0D8"/>
                </a:solidFill>
                <a:latin typeface="Roboto" pitchFamily="34" charset="0"/>
                <a:ea typeface="Roboto" pitchFamily="34" charset="-122"/>
                <a:cs typeface="Roboto" pitchFamily="34" charset="-120"/>
              </a:rPr>
              <a:t>MySQL </a:t>
            </a:r>
            <a:r>
              <a:rPr lang="en-US" sz="850" dirty="0">
                <a:solidFill>
                  <a:srgbClr val="CFD0D8"/>
                </a:solidFill>
                <a:latin typeface="Roboto" pitchFamily="34" charset="0"/>
                <a:ea typeface="Roboto" pitchFamily="34" charset="-122"/>
                <a:cs typeface="Roboto" pitchFamily="34" charset="-120"/>
              </a:rPr>
              <a:t>→ Power BI</a:t>
            </a:r>
            <a:endParaRPr lang="en-US" sz="850" dirty="0"/>
          </a:p>
        </p:txBody>
      </p:sp>
      <p:sp>
        <p:nvSpPr>
          <p:cNvPr id="12" name="Text 9"/>
          <p:cNvSpPr/>
          <p:nvPr/>
        </p:nvSpPr>
        <p:spPr>
          <a:xfrm>
            <a:off x="5136505" y="3807098"/>
            <a:ext cx="2299915" cy="364554"/>
          </a:xfrm>
          <a:prstGeom prst="rect">
            <a:avLst/>
          </a:prstGeom>
          <a:noFill/>
          <a:ln/>
        </p:spPr>
        <p:txBody>
          <a:bodyPr wrap="none" lIns="0" tIns="0" rIns="0" bIns="0" rtlCol="0" anchor="t"/>
          <a:lstStyle/>
          <a:p>
            <a:pPr marL="0" indent="0" algn="ctr">
              <a:lnSpc>
                <a:spcPct val="83000"/>
              </a:lnSpc>
              <a:buNone/>
            </a:pPr>
            <a:r>
              <a:rPr lang="en-US" sz="2850" dirty="0">
                <a:solidFill>
                  <a:srgbClr val="CFD0D8"/>
                </a:solidFill>
                <a:latin typeface="Roboto Medium" pitchFamily="34" charset="0"/>
                <a:ea typeface="Roboto Medium" pitchFamily="34" charset="-122"/>
                <a:cs typeface="Roboto Medium" pitchFamily="34" charset="-120"/>
              </a:rPr>
              <a:t>6</a:t>
            </a:r>
            <a:endParaRPr lang="en-US" sz="2850" dirty="0"/>
          </a:p>
        </p:txBody>
      </p:sp>
      <p:sp>
        <p:nvSpPr>
          <p:cNvPr id="13" name="Text 10"/>
          <p:cNvSpPr/>
          <p:nvPr/>
        </p:nvSpPr>
        <p:spPr>
          <a:xfrm>
            <a:off x="5136505" y="4300612"/>
            <a:ext cx="2299915" cy="172641"/>
          </a:xfrm>
          <a:prstGeom prst="rect">
            <a:avLst/>
          </a:prstGeom>
          <a:noFill/>
          <a:ln/>
        </p:spPr>
        <p:txBody>
          <a:bodyPr wrap="none" lIns="0" tIns="0" rIns="0" bIns="0" rtlCol="0" anchor="t"/>
          <a:lstStyle/>
          <a:p>
            <a:pPr marL="0" indent="0" algn="ctr">
              <a:lnSpc>
                <a:spcPct val="104000"/>
              </a:lnSpc>
              <a:buNone/>
            </a:pPr>
            <a:r>
              <a:rPr lang="en-US" sz="1050" dirty="0">
                <a:solidFill>
                  <a:srgbClr val="CFD0D8"/>
                </a:solidFill>
                <a:latin typeface="Roboto Medium" pitchFamily="34" charset="0"/>
                <a:ea typeface="Roboto Medium" pitchFamily="34" charset="-122"/>
                <a:cs typeface="Roboto Medium" pitchFamily="34" charset="-120"/>
              </a:rPr>
              <a:t>Business Problems</a:t>
            </a:r>
            <a:endParaRPr lang="en-US" sz="1050" dirty="0"/>
          </a:p>
        </p:txBody>
      </p:sp>
      <p:sp>
        <p:nvSpPr>
          <p:cNvPr id="14" name="Text 11"/>
          <p:cNvSpPr/>
          <p:nvPr/>
        </p:nvSpPr>
        <p:spPr>
          <a:xfrm>
            <a:off x="5136505" y="4532263"/>
            <a:ext cx="2299915" cy="167134"/>
          </a:xfrm>
          <a:prstGeom prst="rect">
            <a:avLst/>
          </a:prstGeom>
          <a:noFill/>
          <a:ln/>
        </p:spPr>
        <p:txBody>
          <a:bodyPr wrap="none" lIns="0" tIns="0" rIns="0" bIns="0" rtlCol="0" anchor="t"/>
          <a:lstStyle/>
          <a:p>
            <a:pPr marL="0" indent="0" algn="ctr">
              <a:lnSpc>
                <a:spcPct val="126000"/>
              </a:lnSpc>
              <a:buNone/>
            </a:pPr>
            <a:r>
              <a:rPr lang="en-US" sz="850" dirty="0">
                <a:solidFill>
                  <a:srgbClr val="CFD0D8"/>
                </a:solidFill>
                <a:latin typeface="Roboto" pitchFamily="34" charset="0"/>
                <a:ea typeface="Roboto" pitchFamily="34" charset="-122"/>
                <a:cs typeface="Roboto" pitchFamily="34" charset="-120"/>
              </a:rPr>
              <a:t>Critical challenges addressed through analysis</a:t>
            </a:r>
            <a:endParaRPr lang="en-US" sz="850" dirty="0"/>
          </a:p>
        </p:txBody>
      </p:sp>
      <p:sp>
        <p:nvSpPr>
          <p:cNvPr id="15" name="Rounded Rectangle 14"/>
          <p:cNvSpPr/>
          <p:nvPr/>
        </p:nvSpPr>
        <p:spPr>
          <a:xfrm>
            <a:off x="8052816" y="4870704"/>
            <a:ext cx="1030224" cy="213360"/>
          </a:xfrm>
          <a:prstGeom prst="roundRect">
            <a:avLst/>
          </a:prstGeom>
          <a:solidFill>
            <a:srgbClr val="000019"/>
          </a:solidFill>
          <a:ln>
            <a:solidFill>
              <a:srgbClr val="0000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 2"/>
          <p:cNvSpPr/>
          <p:nvPr/>
        </p:nvSpPr>
        <p:spPr>
          <a:xfrm>
            <a:off x="4876154" y="6531957"/>
            <a:ext cx="1421489" cy="322110"/>
          </a:xfrm>
          <a:prstGeom prst="rect">
            <a:avLst/>
          </a:prstGeom>
          <a:noFill/>
          <a:ln/>
        </p:spPr>
        <p:txBody>
          <a:bodyPr wrap="square" lIns="0" tIns="0" rIns="0" bIns="0" rtlCol="0" anchor="t">
            <a:normAutofit/>
          </a:bodyPr>
          <a:lstStyle/>
          <a:p>
            <a:pPr marL="0" indent="0" algn="l">
              <a:lnSpc>
                <a:spcPct val="126000"/>
              </a:lnSpc>
              <a:buNone/>
            </a:pPr>
            <a:r>
              <a:rPr lang="en-US" sz="900" dirty="0" smtClean="0">
                <a:solidFill>
                  <a:schemeClr val="bg1"/>
                </a:solidFill>
                <a:latin typeface="Roboto" panose="020B0604020202020204" charset="0"/>
                <a:ea typeface="Roboto" panose="020B0604020202020204" charset="0"/>
                <a:cs typeface="Roboto" pitchFamily="34" charset="-120"/>
              </a:rPr>
              <a:t>.</a:t>
            </a:r>
            <a:endParaRPr lang="en-US" sz="900" dirty="0">
              <a:solidFill>
                <a:schemeClr val="bg1"/>
              </a:solidFill>
              <a:latin typeface="Roboto" panose="020B0604020202020204" charset="0"/>
              <a:ea typeface="Roboto" panose="020B0604020202020204" charset="0"/>
            </a:endParaRPr>
          </a:p>
        </p:txBody>
      </p:sp>
      <p:sp>
        <p:nvSpPr>
          <p:cNvPr id="17" name="Rectangle 1"/>
          <p:cNvSpPr>
            <a:spLocks noChangeArrowheads="1"/>
          </p:cNvSpPr>
          <p:nvPr/>
        </p:nvSpPr>
        <p:spPr bwMode="auto">
          <a:xfrm>
            <a:off x="118361" y="3717518"/>
            <a:ext cx="3266865" cy="13388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kumimoji="0" lang="en-US" altLang="en-US" sz="900" b="0" i="0" u="none" strike="noStrike" cap="none" normalizeH="0" baseline="0" dirty="0" smtClean="0">
                <a:ln>
                  <a:noFill/>
                </a:ln>
                <a:solidFill>
                  <a:schemeClr val="bg1"/>
                </a:solidFill>
                <a:effectLst/>
                <a:latin typeface="Roboto" panose="020B0604020202020204" charset="0"/>
                <a:ea typeface="Roboto" panose="020B0604020202020204" charset="0"/>
              </a:rPr>
              <a:t>The dataset and Mercedes-Benz lo</a:t>
            </a:r>
            <a:r>
              <a:rPr lang="en-US" altLang="en-US" sz="900" dirty="0" smtClean="0">
                <a:solidFill>
                  <a:schemeClr val="bg1"/>
                </a:solidFill>
                <a:latin typeface="Arial" panose="020B0604020202020204" pitchFamily="34" charset="0"/>
              </a:rPr>
              <a:t>g</a:t>
            </a:r>
            <a:r>
              <a:rPr kumimoji="0" lang="en-US" altLang="en-US" sz="900" b="0" i="0" u="none" strike="noStrike" cap="none" normalizeH="0" baseline="0" dirty="0" smtClean="0">
                <a:ln>
                  <a:noFill/>
                </a:ln>
                <a:solidFill>
                  <a:schemeClr val="bg1"/>
                </a:solidFill>
                <a:effectLst/>
                <a:latin typeface="Roboto" panose="020B0604020202020204" charset="0"/>
                <a:ea typeface="Roboto" panose="020B0604020202020204" charset="0"/>
              </a:rPr>
              <a:t>o used in this project is intended solely for educational and portfolio purposes. It does not represent official or proprietary company data, and any analysis or conclusions are based on the available sample data.</a:t>
            </a:r>
            <a:endParaRPr kumimoji="0" lang="en-US" altLang="en-US" sz="900" b="1" i="0" u="none" strike="noStrike" cap="none" normalizeH="0" baseline="0" dirty="0" smtClean="0">
              <a:ln>
                <a:noFill/>
              </a:ln>
              <a:solidFill>
                <a:schemeClr val="bg1"/>
              </a:solidFill>
              <a:effectLst/>
              <a:latin typeface="Roboto" panose="020B0604020202020204" charset="0"/>
              <a:ea typeface="Roboto" panose="020B0604020202020204" charset="0"/>
            </a:endParaRP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900" b="0" i="0" u="none" strike="noStrike" cap="none" normalizeH="0" baseline="0" dirty="0" smtClean="0">
              <a:ln>
                <a:noFill/>
              </a:ln>
              <a:solidFill>
                <a:schemeClr val="bg1"/>
              </a:solidFill>
              <a:effectLst/>
              <a:latin typeface="Roboto" panose="020B0604020202020204" charset="0"/>
              <a:ea typeface="Roboto" panose="020B0604020202020204" charset="0"/>
            </a:endParaRPr>
          </a:p>
        </p:txBody>
      </p:sp>
      <p:sp>
        <p:nvSpPr>
          <p:cNvPr id="18" name="Text 0"/>
          <p:cNvSpPr/>
          <p:nvPr/>
        </p:nvSpPr>
        <p:spPr>
          <a:xfrm>
            <a:off x="202022" y="3445420"/>
            <a:ext cx="4722763" cy="172641"/>
          </a:xfrm>
          <a:prstGeom prst="rect">
            <a:avLst/>
          </a:prstGeom>
          <a:noFill/>
          <a:ln/>
        </p:spPr>
        <p:txBody>
          <a:bodyPr wrap="none" lIns="0" tIns="0" rIns="0" bIns="0" rtlCol="0" anchor="t"/>
          <a:lstStyle/>
          <a:p>
            <a:pPr>
              <a:lnSpc>
                <a:spcPct val="104000"/>
              </a:lnSpc>
            </a:pPr>
            <a:r>
              <a:rPr lang="en-US" sz="1400" dirty="0" smtClean="0">
                <a:solidFill>
                  <a:srgbClr val="FFFFFF"/>
                </a:solidFill>
                <a:latin typeface="Roboto Medium" pitchFamily="34" charset="0"/>
                <a:ea typeface="Roboto Medium" pitchFamily="34" charset="-122"/>
                <a:cs typeface="Roboto Medium" pitchFamily="34" charset="-120"/>
              </a:rPr>
              <a:t>Disclaimer </a:t>
            </a:r>
            <a:r>
              <a:rPr lang="en-IN" sz="1400" dirty="0">
                <a:solidFill>
                  <a:srgbClr val="FFFF00"/>
                </a:solidFill>
              </a:rPr>
              <a:t>⚠</a:t>
            </a:r>
            <a:r>
              <a:rPr lang="en-IN" sz="1400" dirty="0"/>
              <a: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398</TotalTime>
  <Words>1114</Words>
  <Application>Microsoft Office PowerPoint</Application>
  <PresentationFormat>On-screen Show (16:9)</PresentationFormat>
  <Paragraphs>145</Paragraphs>
  <Slides>13</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Calibri</vt:lpstr>
      <vt:lpstr>Roboto</vt:lpstr>
      <vt:lpstr>Arial</vt:lpstr>
      <vt:lpstr>Wingdings</vt:lpstr>
      <vt:lpstr>Roboto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Amit Saini</dc:creator>
  <cp:lastModifiedBy>Amit Saini</cp:lastModifiedBy>
  <cp:revision>18</cp:revision>
  <dcterms:created xsi:type="dcterms:W3CDTF">2026-07-31T12:55:25Z</dcterms:created>
  <dcterms:modified xsi:type="dcterms:W3CDTF">2026-08-01T16:58:02Z</dcterms:modified>
</cp:coreProperties>
</file>